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69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568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a:effectLst/>
      </p:bgPr>
    </p:bg>
    <p:spTree>
      <p:nvGrpSpPr>
        <p:cNvPr id="1" name=""/>
        <p:cNvGrpSpPr/>
        <p:nvPr/>
      </p:nvGrpSpPr>
      <p:grpSpPr>
        <a:xfrm>
          <a:off x="0" y="0"/>
          <a:ext cx="0" cy="0"/>
          <a:chOff x="0" y="0"/>
          <a:chExt cx="0" cy="0"/>
        </a:xfrm>
      </p:grpSpPr>
      <p:sp>
        <p:nvSpPr>
          <p:cNvPr id="2" name="Text 0"/>
          <p:cNvSpPr txBox="1"/>
          <p:nvPr/>
        </p:nvSpPr>
        <p:spPr>
          <a:xfrm>
            <a:off x="457200" y="914400"/>
            <a:ext cx="4754880" cy="15544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Pathfinding Visualizer</a:t>
            </a:r>
            <a:endParaRPr lang="en-US" sz="4400" dirty="0"/>
          </a:p>
        </p:txBody>
      </p:sp>
      <p:sp>
        <p:nvSpPr>
          <p:cNvPr id="3" name="Text 1"/>
          <p:cNvSpPr txBox="1"/>
          <p:nvPr/>
        </p:nvSpPr>
        <p:spPr>
          <a:xfrm>
            <a:off x="457200" y="2606040"/>
            <a:ext cx="4572000" cy="822960"/>
          </a:xfrm>
          <a:prstGeom prst="rect">
            <a:avLst/>
          </a:prstGeom>
          <a:noFill/>
          <a:ln/>
        </p:spPr>
        <p:txBody>
          <a:bodyPr wrap="square" lIns="0" tIns="0" rIns="0" bIns="0" rtlCol="0" anchor="t"/>
          <a:lstStyle/>
          <a:p>
            <a:pPr marL="0" indent="0">
              <a:buNone/>
            </a:pPr>
            <a:r>
              <a:rPr lang="en-US" sz="1800" dirty="0">
                <a:solidFill>
                  <a:srgbClr val="ECF0F1"/>
                </a:solidFill>
                <a:latin typeface="Calibri" pitchFamily="34" charset="0"/>
                <a:ea typeface="Calibri" pitchFamily="34" charset="-122"/>
                <a:cs typeface="Calibri" pitchFamily="34" charset="-120"/>
              </a:rPr>
              <a:t>Maze generation, BFS and DFS search, animated with SFML in C++</a:t>
            </a:r>
            <a:endParaRPr lang="en-US" sz="1800" dirty="0"/>
          </a:p>
        </p:txBody>
      </p:sp>
      <p:sp>
        <p:nvSpPr>
          <p:cNvPr id="4" name="Text 2"/>
          <p:cNvSpPr txBox="1"/>
          <p:nvPr/>
        </p:nvSpPr>
        <p:spPr>
          <a:xfrm>
            <a:off x="457200" y="3657600"/>
            <a:ext cx="457200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Vipin Kumar</a:t>
            </a:r>
            <a:endParaRPr lang="en-US" sz="1600" dirty="0"/>
          </a:p>
        </p:txBody>
      </p:sp>
      <p:sp>
        <p:nvSpPr>
          <p:cNvPr id="5" name="Text 3"/>
          <p:cNvSpPr txBox="1"/>
          <p:nvPr/>
        </p:nvSpPr>
        <p:spPr>
          <a:xfrm>
            <a:off x="457200" y="4023360"/>
            <a:ext cx="4754880" cy="548640"/>
          </a:xfrm>
          <a:prstGeom prst="rect">
            <a:avLst/>
          </a:prstGeom>
          <a:noFill/>
          <a:ln/>
        </p:spPr>
        <p:txBody>
          <a:bodyPr wrap="square" lIns="0" tIns="0" rIns="0" bIns="0" rtlCol="0" anchor="t"/>
          <a:lstStyle/>
          <a:p>
            <a:pPr marL="0" indent="0">
              <a:buNone/>
            </a:pPr>
            <a:r>
              <a:rPr lang="en-US" sz="1400" dirty="0">
                <a:solidFill>
                  <a:srgbClr val="5DADE2"/>
                </a:solidFill>
                <a:latin typeface="Calibri" pitchFamily="34" charset="0"/>
                <a:ea typeface="Calibri" pitchFamily="34" charset="-122"/>
                <a:cs typeface="Calibri" pitchFamily="34" charset="-120"/>
              </a:rPr>
              <a:t>Minor Project | DSA Internship | TechnGlobal Private Limited</a:t>
            </a:r>
            <a:endParaRPr lang="en-US" sz="1400" dirty="0"/>
          </a:p>
        </p:txBody>
      </p:sp>
      <p:sp>
        <p:nvSpPr>
          <p:cNvPr id="6" name="Cell 0-0"/>
          <p:cNvSpPr/>
          <p:nvPr/>
        </p:nvSpPr>
        <p:spPr>
          <a:xfrm>
            <a:off x="5394960" y="914400"/>
            <a:ext cx="411480" cy="411480"/>
          </a:xfrm>
          <a:prstGeom prst="rect">
            <a:avLst/>
          </a:prstGeom>
          <a:solidFill>
            <a:srgbClr val="2ECC71"/>
          </a:solidFill>
          <a:ln/>
        </p:spPr>
      </p:sp>
      <p:sp>
        <p:nvSpPr>
          <p:cNvPr id="7" name="Cell 0-1"/>
          <p:cNvSpPr/>
          <p:nvPr/>
        </p:nvSpPr>
        <p:spPr>
          <a:xfrm>
            <a:off x="5852160" y="914400"/>
            <a:ext cx="411480" cy="411480"/>
          </a:xfrm>
          <a:prstGeom prst="rect">
            <a:avLst/>
          </a:prstGeom>
          <a:solidFill>
            <a:srgbClr val="F1C40F"/>
          </a:solidFill>
          <a:ln/>
        </p:spPr>
      </p:sp>
      <p:sp>
        <p:nvSpPr>
          <p:cNvPr id="8" name="Cell 0-2"/>
          <p:cNvSpPr/>
          <p:nvPr/>
        </p:nvSpPr>
        <p:spPr>
          <a:xfrm>
            <a:off x="6309360" y="914400"/>
            <a:ext cx="411480" cy="411480"/>
          </a:xfrm>
          <a:prstGeom prst="rect">
            <a:avLst/>
          </a:prstGeom>
          <a:solidFill>
            <a:srgbClr val="F1C40F"/>
          </a:solidFill>
          <a:ln/>
        </p:spPr>
      </p:sp>
      <p:sp>
        <p:nvSpPr>
          <p:cNvPr id="9" name="Cell 0-3"/>
          <p:cNvSpPr/>
          <p:nvPr/>
        </p:nvSpPr>
        <p:spPr>
          <a:xfrm>
            <a:off x="6766560" y="914400"/>
            <a:ext cx="411480" cy="411480"/>
          </a:xfrm>
          <a:prstGeom prst="rect">
            <a:avLst/>
          </a:prstGeom>
          <a:solidFill>
            <a:srgbClr val="3D566E"/>
          </a:solidFill>
          <a:ln/>
        </p:spPr>
      </p:sp>
      <p:sp>
        <p:nvSpPr>
          <p:cNvPr id="10" name="Cell 0-4"/>
          <p:cNvSpPr/>
          <p:nvPr/>
        </p:nvSpPr>
        <p:spPr>
          <a:xfrm>
            <a:off x="7223760" y="914400"/>
            <a:ext cx="411480" cy="411480"/>
          </a:xfrm>
          <a:prstGeom prst="rect">
            <a:avLst/>
          </a:prstGeom>
          <a:solidFill>
            <a:srgbClr val="F1C40F"/>
          </a:solidFill>
          <a:ln/>
        </p:spPr>
      </p:sp>
      <p:sp>
        <p:nvSpPr>
          <p:cNvPr id="11" name="Cell 0-5"/>
          <p:cNvSpPr/>
          <p:nvPr/>
        </p:nvSpPr>
        <p:spPr>
          <a:xfrm>
            <a:off x="7680960" y="914400"/>
            <a:ext cx="411480" cy="411480"/>
          </a:xfrm>
          <a:prstGeom prst="rect">
            <a:avLst/>
          </a:prstGeom>
          <a:solidFill>
            <a:srgbClr val="F1C40F"/>
          </a:solidFill>
          <a:ln/>
        </p:spPr>
      </p:sp>
      <p:sp>
        <p:nvSpPr>
          <p:cNvPr id="12" name="Cell 0-6"/>
          <p:cNvSpPr/>
          <p:nvPr/>
        </p:nvSpPr>
        <p:spPr>
          <a:xfrm>
            <a:off x="8138160" y="914400"/>
            <a:ext cx="411480" cy="411480"/>
          </a:xfrm>
          <a:prstGeom prst="rect">
            <a:avLst/>
          </a:prstGeom>
          <a:solidFill>
            <a:srgbClr val="F1C40F"/>
          </a:solidFill>
          <a:ln/>
        </p:spPr>
      </p:sp>
      <p:sp>
        <p:nvSpPr>
          <p:cNvPr id="13" name="Cell 1-0"/>
          <p:cNvSpPr/>
          <p:nvPr/>
        </p:nvSpPr>
        <p:spPr>
          <a:xfrm>
            <a:off x="5394960" y="1371600"/>
            <a:ext cx="411480" cy="411480"/>
          </a:xfrm>
          <a:prstGeom prst="rect">
            <a:avLst/>
          </a:prstGeom>
          <a:solidFill>
            <a:srgbClr val="3D566E"/>
          </a:solidFill>
          <a:ln/>
        </p:spPr>
      </p:sp>
      <p:sp>
        <p:nvSpPr>
          <p:cNvPr id="14" name="Cell 1-1"/>
          <p:cNvSpPr/>
          <p:nvPr/>
        </p:nvSpPr>
        <p:spPr>
          <a:xfrm>
            <a:off x="5852160" y="1371600"/>
            <a:ext cx="411480" cy="411480"/>
          </a:xfrm>
          <a:prstGeom prst="rect">
            <a:avLst/>
          </a:prstGeom>
          <a:solidFill>
            <a:srgbClr val="3D566E"/>
          </a:solidFill>
          <a:ln/>
        </p:spPr>
      </p:sp>
      <p:sp>
        <p:nvSpPr>
          <p:cNvPr id="15" name="Cell 1-2"/>
          <p:cNvSpPr/>
          <p:nvPr/>
        </p:nvSpPr>
        <p:spPr>
          <a:xfrm>
            <a:off x="6309360" y="1371600"/>
            <a:ext cx="411480" cy="411480"/>
          </a:xfrm>
          <a:prstGeom prst="rect">
            <a:avLst/>
          </a:prstGeom>
          <a:solidFill>
            <a:srgbClr val="F1C40F"/>
          </a:solidFill>
          <a:ln/>
        </p:spPr>
      </p:sp>
      <p:sp>
        <p:nvSpPr>
          <p:cNvPr id="16" name="Cell 1-3"/>
          <p:cNvSpPr/>
          <p:nvPr/>
        </p:nvSpPr>
        <p:spPr>
          <a:xfrm>
            <a:off x="6766560" y="1371600"/>
            <a:ext cx="411480" cy="411480"/>
          </a:xfrm>
          <a:prstGeom prst="rect">
            <a:avLst/>
          </a:prstGeom>
          <a:solidFill>
            <a:srgbClr val="3D566E"/>
          </a:solidFill>
          <a:ln/>
        </p:spPr>
      </p:sp>
      <p:sp>
        <p:nvSpPr>
          <p:cNvPr id="17" name="Cell 1-4"/>
          <p:cNvSpPr/>
          <p:nvPr/>
        </p:nvSpPr>
        <p:spPr>
          <a:xfrm>
            <a:off x="7223760" y="1371600"/>
            <a:ext cx="411480" cy="411480"/>
          </a:xfrm>
          <a:prstGeom prst="rect">
            <a:avLst/>
          </a:prstGeom>
          <a:solidFill>
            <a:srgbClr val="F1C40F"/>
          </a:solidFill>
          <a:ln/>
        </p:spPr>
      </p:sp>
      <p:sp>
        <p:nvSpPr>
          <p:cNvPr id="18" name="Cell 1-5"/>
          <p:cNvSpPr/>
          <p:nvPr/>
        </p:nvSpPr>
        <p:spPr>
          <a:xfrm>
            <a:off x="7680960" y="1371600"/>
            <a:ext cx="411480" cy="411480"/>
          </a:xfrm>
          <a:prstGeom prst="rect">
            <a:avLst/>
          </a:prstGeom>
          <a:solidFill>
            <a:srgbClr val="3D566E"/>
          </a:solidFill>
          <a:ln/>
        </p:spPr>
      </p:sp>
      <p:sp>
        <p:nvSpPr>
          <p:cNvPr id="19" name="Cell 1-6"/>
          <p:cNvSpPr/>
          <p:nvPr/>
        </p:nvSpPr>
        <p:spPr>
          <a:xfrm>
            <a:off x="8138160" y="1371600"/>
            <a:ext cx="411480" cy="411480"/>
          </a:xfrm>
          <a:prstGeom prst="rect">
            <a:avLst/>
          </a:prstGeom>
          <a:solidFill>
            <a:srgbClr val="F1C40F"/>
          </a:solidFill>
          <a:ln/>
        </p:spPr>
      </p:sp>
      <p:sp>
        <p:nvSpPr>
          <p:cNvPr id="20" name="Cell 2-0"/>
          <p:cNvSpPr/>
          <p:nvPr/>
        </p:nvSpPr>
        <p:spPr>
          <a:xfrm>
            <a:off x="5394960" y="1828800"/>
            <a:ext cx="411480" cy="411480"/>
          </a:xfrm>
          <a:prstGeom prst="rect">
            <a:avLst/>
          </a:prstGeom>
          <a:solidFill>
            <a:srgbClr val="5DADE2"/>
          </a:solidFill>
          <a:ln/>
        </p:spPr>
      </p:sp>
      <p:sp>
        <p:nvSpPr>
          <p:cNvPr id="21" name="Cell 2-1"/>
          <p:cNvSpPr/>
          <p:nvPr/>
        </p:nvSpPr>
        <p:spPr>
          <a:xfrm>
            <a:off x="5852160" y="1828800"/>
            <a:ext cx="411480" cy="411480"/>
          </a:xfrm>
          <a:prstGeom prst="rect">
            <a:avLst/>
          </a:prstGeom>
          <a:solidFill>
            <a:srgbClr val="5DADE2"/>
          </a:solidFill>
          <a:ln/>
        </p:spPr>
      </p:sp>
      <p:sp>
        <p:nvSpPr>
          <p:cNvPr id="22" name="Cell 2-2"/>
          <p:cNvSpPr/>
          <p:nvPr/>
        </p:nvSpPr>
        <p:spPr>
          <a:xfrm>
            <a:off x="6309360" y="1828800"/>
            <a:ext cx="411480" cy="411480"/>
          </a:xfrm>
          <a:prstGeom prst="rect">
            <a:avLst/>
          </a:prstGeom>
          <a:solidFill>
            <a:srgbClr val="F1C40F"/>
          </a:solidFill>
          <a:ln/>
        </p:spPr>
      </p:sp>
      <p:sp>
        <p:nvSpPr>
          <p:cNvPr id="23" name="Cell 2-3"/>
          <p:cNvSpPr/>
          <p:nvPr/>
        </p:nvSpPr>
        <p:spPr>
          <a:xfrm>
            <a:off x="6766560" y="1828800"/>
            <a:ext cx="411480" cy="411480"/>
          </a:xfrm>
          <a:prstGeom prst="rect">
            <a:avLst/>
          </a:prstGeom>
          <a:solidFill>
            <a:srgbClr val="F1C40F"/>
          </a:solidFill>
          <a:ln/>
        </p:spPr>
      </p:sp>
      <p:sp>
        <p:nvSpPr>
          <p:cNvPr id="24" name="Cell 2-4"/>
          <p:cNvSpPr/>
          <p:nvPr/>
        </p:nvSpPr>
        <p:spPr>
          <a:xfrm>
            <a:off x="7223760" y="1828800"/>
            <a:ext cx="411480" cy="411480"/>
          </a:xfrm>
          <a:prstGeom prst="rect">
            <a:avLst/>
          </a:prstGeom>
          <a:solidFill>
            <a:srgbClr val="F1C40F"/>
          </a:solidFill>
          <a:ln/>
        </p:spPr>
      </p:sp>
      <p:sp>
        <p:nvSpPr>
          <p:cNvPr id="25" name="Cell 2-5"/>
          <p:cNvSpPr/>
          <p:nvPr/>
        </p:nvSpPr>
        <p:spPr>
          <a:xfrm>
            <a:off x="7680960" y="1828800"/>
            <a:ext cx="411480" cy="411480"/>
          </a:xfrm>
          <a:prstGeom prst="rect">
            <a:avLst/>
          </a:prstGeom>
          <a:solidFill>
            <a:srgbClr val="3D566E"/>
          </a:solidFill>
          <a:ln/>
        </p:spPr>
      </p:sp>
      <p:sp>
        <p:nvSpPr>
          <p:cNvPr id="26" name="Cell 2-6"/>
          <p:cNvSpPr/>
          <p:nvPr/>
        </p:nvSpPr>
        <p:spPr>
          <a:xfrm>
            <a:off x="8138160" y="1828800"/>
            <a:ext cx="411480" cy="411480"/>
          </a:xfrm>
          <a:prstGeom prst="rect">
            <a:avLst/>
          </a:prstGeom>
          <a:solidFill>
            <a:srgbClr val="F1C40F"/>
          </a:solidFill>
          <a:ln/>
        </p:spPr>
      </p:sp>
      <p:sp>
        <p:nvSpPr>
          <p:cNvPr id="27" name="Cell 3-0"/>
          <p:cNvSpPr/>
          <p:nvPr/>
        </p:nvSpPr>
        <p:spPr>
          <a:xfrm>
            <a:off x="5394960" y="2286000"/>
            <a:ext cx="411480" cy="411480"/>
          </a:xfrm>
          <a:prstGeom prst="rect">
            <a:avLst/>
          </a:prstGeom>
          <a:solidFill>
            <a:srgbClr val="5DADE2"/>
          </a:solidFill>
          <a:ln/>
        </p:spPr>
      </p:sp>
      <p:sp>
        <p:nvSpPr>
          <p:cNvPr id="28" name="Cell 3-1"/>
          <p:cNvSpPr/>
          <p:nvPr/>
        </p:nvSpPr>
        <p:spPr>
          <a:xfrm>
            <a:off x="5852160" y="2286000"/>
            <a:ext cx="411480" cy="411480"/>
          </a:xfrm>
          <a:prstGeom prst="rect">
            <a:avLst/>
          </a:prstGeom>
          <a:solidFill>
            <a:srgbClr val="3D566E"/>
          </a:solidFill>
          <a:ln/>
        </p:spPr>
      </p:sp>
      <p:sp>
        <p:nvSpPr>
          <p:cNvPr id="29" name="Cell 3-2"/>
          <p:cNvSpPr/>
          <p:nvPr/>
        </p:nvSpPr>
        <p:spPr>
          <a:xfrm>
            <a:off x="6309360" y="2286000"/>
            <a:ext cx="411480" cy="411480"/>
          </a:xfrm>
          <a:prstGeom prst="rect">
            <a:avLst/>
          </a:prstGeom>
          <a:solidFill>
            <a:srgbClr val="3D566E"/>
          </a:solidFill>
          <a:ln/>
        </p:spPr>
      </p:sp>
      <p:sp>
        <p:nvSpPr>
          <p:cNvPr id="30" name="Cell 3-3"/>
          <p:cNvSpPr/>
          <p:nvPr/>
        </p:nvSpPr>
        <p:spPr>
          <a:xfrm>
            <a:off x="6766560" y="2286000"/>
            <a:ext cx="411480" cy="411480"/>
          </a:xfrm>
          <a:prstGeom prst="rect">
            <a:avLst/>
          </a:prstGeom>
          <a:solidFill>
            <a:srgbClr val="3D566E"/>
          </a:solidFill>
          <a:ln/>
        </p:spPr>
      </p:sp>
      <p:sp>
        <p:nvSpPr>
          <p:cNvPr id="31" name="Cell 3-4"/>
          <p:cNvSpPr/>
          <p:nvPr/>
        </p:nvSpPr>
        <p:spPr>
          <a:xfrm>
            <a:off x="7223760" y="2286000"/>
            <a:ext cx="411480" cy="411480"/>
          </a:xfrm>
          <a:prstGeom prst="rect">
            <a:avLst/>
          </a:prstGeom>
          <a:solidFill>
            <a:srgbClr val="3D566E"/>
          </a:solidFill>
          <a:ln/>
        </p:spPr>
      </p:sp>
      <p:sp>
        <p:nvSpPr>
          <p:cNvPr id="32" name="Cell 3-5"/>
          <p:cNvSpPr/>
          <p:nvPr/>
        </p:nvSpPr>
        <p:spPr>
          <a:xfrm>
            <a:off x="7680960" y="2286000"/>
            <a:ext cx="411480" cy="411480"/>
          </a:xfrm>
          <a:prstGeom prst="rect">
            <a:avLst/>
          </a:prstGeom>
          <a:solidFill>
            <a:srgbClr val="3D566E"/>
          </a:solidFill>
          <a:ln/>
        </p:spPr>
      </p:sp>
      <p:sp>
        <p:nvSpPr>
          <p:cNvPr id="33" name="Cell 3-6"/>
          <p:cNvSpPr/>
          <p:nvPr/>
        </p:nvSpPr>
        <p:spPr>
          <a:xfrm>
            <a:off x="8138160" y="2286000"/>
            <a:ext cx="411480" cy="411480"/>
          </a:xfrm>
          <a:prstGeom prst="rect">
            <a:avLst/>
          </a:prstGeom>
          <a:solidFill>
            <a:srgbClr val="F1C40F"/>
          </a:solidFill>
          <a:ln/>
        </p:spPr>
      </p:sp>
      <p:sp>
        <p:nvSpPr>
          <p:cNvPr id="34" name="Cell 4-0"/>
          <p:cNvSpPr/>
          <p:nvPr/>
        </p:nvSpPr>
        <p:spPr>
          <a:xfrm>
            <a:off x="5394960" y="2743200"/>
            <a:ext cx="411480" cy="411480"/>
          </a:xfrm>
          <a:prstGeom prst="rect">
            <a:avLst/>
          </a:prstGeom>
          <a:solidFill>
            <a:srgbClr val="5DADE2"/>
          </a:solidFill>
          <a:ln/>
        </p:spPr>
      </p:sp>
      <p:sp>
        <p:nvSpPr>
          <p:cNvPr id="35" name="Cell 4-1"/>
          <p:cNvSpPr/>
          <p:nvPr/>
        </p:nvSpPr>
        <p:spPr>
          <a:xfrm>
            <a:off x="5852160" y="2743200"/>
            <a:ext cx="411480" cy="411480"/>
          </a:xfrm>
          <a:prstGeom prst="rect">
            <a:avLst/>
          </a:prstGeom>
          <a:solidFill>
            <a:srgbClr val="5DADE2"/>
          </a:solidFill>
          <a:ln/>
        </p:spPr>
      </p:sp>
      <p:sp>
        <p:nvSpPr>
          <p:cNvPr id="36" name="Cell 4-2"/>
          <p:cNvSpPr/>
          <p:nvPr/>
        </p:nvSpPr>
        <p:spPr>
          <a:xfrm>
            <a:off x="6309360" y="2743200"/>
            <a:ext cx="411480" cy="411480"/>
          </a:xfrm>
          <a:prstGeom prst="rect">
            <a:avLst/>
          </a:prstGeom>
          <a:solidFill>
            <a:srgbClr val="5DADE2"/>
          </a:solidFill>
          <a:ln/>
        </p:spPr>
      </p:sp>
      <p:sp>
        <p:nvSpPr>
          <p:cNvPr id="37" name="Cell 4-3"/>
          <p:cNvSpPr/>
          <p:nvPr/>
        </p:nvSpPr>
        <p:spPr>
          <a:xfrm>
            <a:off x="6766560" y="2743200"/>
            <a:ext cx="411480" cy="411480"/>
          </a:xfrm>
          <a:prstGeom prst="rect">
            <a:avLst/>
          </a:prstGeom>
          <a:solidFill>
            <a:srgbClr val="5DADE2"/>
          </a:solidFill>
          <a:ln/>
        </p:spPr>
      </p:sp>
      <p:sp>
        <p:nvSpPr>
          <p:cNvPr id="38" name="Cell 4-4"/>
          <p:cNvSpPr/>
          <p:nvPr/>
        </p:nvSpPr>
        <p:spPr>
          <a:xfrm>
            <a:off x="7223760" y="2743200"/>
            <a:ext cx="411480" cy="411480"/>
          </a:xfrm>
          <a:prstGeom prst="rect">
            <a:avLst/>
          </a:prstGeom>
          <a:solidFill>
            <a:srgbClr val="5DADE2"/>
          </a:solidFill>
          <a:ln/>
        </p:spPr>
      </p:sp>
      <p:sp>
        <p:nvSpPr>
          <p:cNvPr id="39" name="Cell 4-5"/>
          <p:cNvSpPr/>
          <p:nvPr/>
        </p:nvSpPr>
        <p:spPr>
          <a:xfrm>
            <a:off x="7680960" y="2743200"/>
            <a:ext cx="411480" cy="411480"/>
          </a:xfrm>
          <a:prstGeom prst="rect">
            <a:avLst/>
          </a:prstGeom>
          <a:solidFill>
            <a:srgbClr val="5DADE2"/>
          </a:solidFill>
          <a:ln/>
        </p:spPr>
      </p:sp>
      <p:sp>
        <p:nvSpPr>
          <p:cNvPr id="40" name="Cell 4-6"/>
          <p:cNvSpPr/>
          <p:nvPr/>
        </p:nvSpPr>
        <p:spPr>
          <a:xfrm>
            <a:off x="8138160" y="2743200"/>
            <a:ext cx="411480" cy="411480"/>
          </a:xfrm>
          <a:prstGeom prst="rect">
            <a:avLst/>
          </a:prstGeom>
          <a:solidFill>
            <a:srgbClr val="F1C40F"/>
          </a:solidFill>
          <a:ln/>
        </p:spPr>
      </p:sp>
      <p:sp>
        <p:nvSpPr>
          <p:cNvPr id="41" name="Cell 5-0"/>
          <p:cNvSpPr/>
          <p:nvPr/>
        </p:nvSpPr>
        <p:spPr>
          <a:xfrm>
            <a:off x="5394960" y="3200400"/>
            <a:ext cx="411480" cy="411480"/>
          </a:xfrm>
          <a:prstGeom prst="rect">
            <a:avLst/>
          </a:prstGeom>
          <a:solidFill>
            <a:srgbClr val="3D566E"/>
          </a:solidFill>
          <a:ln/>
        </p:spPr>
      </p:sp>
      <p:sp>
        <p:nvSpPr>
          <p:cNvPr id="42" name="Cell 5-1"/>
          <p:cNvSpPr/>
          <p:nvPr/>
        </p:nvSpPr>
        <p:spPr>
          <a:xfrm>
            <a:off x="5852160" y="3200400"/>
            <a:ext cx="411480" cy="411480"/>
          </a:xfrm>
          <a:prstGeom prst="rect">
            <a:avLst/>
          </a:prstGeom>
          <a:solidFill>
            <a:srgbClr val="3D566E"/>
          </a:solidFill>
          <a:ln/>
        </p:spPr>
      </p:sp>
      <p:sp>
        <p:nvSpPr>
          <p:cNvPr id="43" name="Cell 5-2"/>
          <p:cNvSpPr/>
          <p:nvPr/>
        </p:nvSpPr>
        <p:spPr>
          <a:xfrm>
            <a:off x="6309360" y="3200400"/>
            <a:ext cx="411480" cy="411480"/>
          </a:xfrm>
          <a:prstGeom prst="rect">
            <a:avLst/>
          </a:prstGeom>
          <a:solidFill>
            <a:srgbClr val="3D566E"/>
          </a:solidFill>
          <a:ln/>
        </p:spPr>
      </p:sp>
      <p:sp>
        <p:nvSpPr>
          <p:cNvPr id="44" name="Cell 5-3"/>
          <p:cNvSpPr/>
          <p:nvPr/>
        </p:nvSpPr>
        <p:spPr>
          <a:xfrm>
            <a:off x="6766560" y="3200400"/>
            <a:ext cx="411480" cy="411480"/>
          </a:xfrm>
          <a:prstGeom prst="rect">
            <a:avLst/>
          </a:prstGeom>
          <a:solidFill>
            <a:srgbClr val="3D566E"/>
          </a:solidFill>
          <a:ln/>
        </p:spPr>
      </p:sp>
      <p:sp>
        <p:nvSpPr>
          <p:cNvPr id="45" name="Cell 5-4"/>
          <p:cNvSpPr/>
          <p:nvPr/>
        </p:nvSpPr>
        <p:spPr>
          <a:xfrm>
            <a:off x="7223760" y="3200400"/>
            <a:ext cx="411480" cy="411480"/>
          </a:xfrm>
          <a:prstGeom prst="rect">
            <a:avLst/>
          </a:prstGeom>
          <a:solidFill>
            <a:srgbClr val="3D566E"/>
          </a:solidFill>
          <a:ln/>
        </p:spPr>
      </p:sp>
      <p:sp>
        <p:nvSpPr>
          <p:cNvPr id="46" name="Cell 5-5"/>
          <p:cNvSpPr/>
          <p:nvPr/>
        </p:nvSpPr>
        <p:spPr>
          <a:xfrm>
            <a:off x="7680960" y="3200400"/>
            <a:ext cx="411480" cy="411480"/>
          </a:xfrm>
          <a:prstGeom prst="rect">
            <a:avLst/>
          </a:prstGeom>
          <a:solidFill>
            <a:srgbClr val="3D566E"/>
          </a:solidFill>
          <a:ln/>
        </p:spPr>
      </p:sp>
      <p:sp>
        <p:nvSpPr>
          <p:cNvPr id="47" name="Cell 5-6"/>
          <p:cNvSpPr/>
          <p:nvPr/>
        </p:nvSpPr>
        <p:spPr>
          <a:xfrm>
            <a:off x="8138160" y="3200400"/>
            <a:ext cx="411480" cy="411480"/>
          </a:xfrm>
          <a:prstGeom prst="rect">
            <a:avLst/>
          </a:prstGeom>
          <a:solidFill>
            <a:srgbClr val="F1C40F"/>
          </a:solidFill>
          <a:ln/>
        </p:spPr>
      </p:sp>
      <p:sp>
        <p:nvSpPr>
          <p:cNvPr id="48" name="Cell 6-0"/>
          <p:cNvSpPr/>
          <p:nvPr/>
        </p:nvSpPr>
        <p:spPr>
          <a:xfrm>
            <a:off x="5394960" y="3657600"/>
            <a:ext cx="411480" cy="411480"/>
          </a:xfrm>
          <a:prstGeom prst="rect">
            <a:avLst/>
          </a:prstGeom>
          <a:solidFill>
            <a:srgbClr val="ECF0F1"/>
          </a:solidFill>
          <a:ln/>
        </p:spPr>
      </p:sp>
      <p:sp>
        <p:nvSpPr>
          <p:cNvPr id="49" name="Cell 6-1"/>
          <p:cNvSpPr/>
          <p:nvPr/>
        </p:nvSpPr>
        <p:spPr>
          <a:xfrm>
            <a:off x="5852160" y="3657600"/>
            <a:ext cx="411480" cy="411480"/>
          </a:xfrm>
          <a:prstGeom prst="rect">
            <a:avLst/>
          </a:prstGeom>
          <a:solidFill>
            <a:srgbClr val="ECF0F1"/>
          </a:solidFill>
          <a:ln/>
        </p:spPr>
      </p:sp>
      <p:sp>
        <p:nvSpPr>
          <p:cNvPr id="50" name="Cell 6-2"/>
          <p:cNvSpPr/>
          <p:nvPr/>
        </p:nvSpPr>
        <p:spPr>
          <a:xfrm>
            <a:off x="6309360" y="3657600"/>
            <a:ext cx="411480" cy="411480"/>
          </a:xfrm>
          <a:prstGeom prst="rect">
            <a:avLst/>
          </a:prstGeom>
          <a:solidFill>
            <a:srgbClr val="ECF0F1"/>
          </a:solidFill>
          <a:ln/>
        </p:spPr>
      </p:sp>
      <p:sp>
        <p:nvSpPr>
          <p:cNvPr id="51" name="Cell 6-3"/>
          <p:cNvSpPr/>
          <p:nvPr/>
        </p:nvSpPr>
        <p:spPr>
          <a:xfrm>
            <a:off x="6766560" y="3657600"/>
            <a:ext cx="411480" cy="411480"/>
          </a:xfrm>
          <a:prstGeom prst="rect">
            <a:avLst/>
          </a:prstGeom>
          <a:solidFill>
            <a:srgbClr val="ECF0F1"/>
          </a:solidFill>
          <a:ln/>
        </p:spPr>
      </p:sp>
      <p:sp>
        <p:nvSpPr>
          <p:cNvPr id="52" name="Cell 6-4"/>
          <p:cNvSpPr/>
          <p:nvPr/>
        </p:nvSpPr>
        <p:spPr>
          <a:xfrm>
            <a:off x="7223760" y="3657600"/>
            <a:ext cx="411480" cy="411480"/>
          </a:xfrm>
          <a:prstGeom prst="rect">
            <a:avLst/>
          </a:prstGeom>
          <a:solidFill>
            <a:srgbClr val="ECF0F1"/>
          </a:solidFill>
          <a:ln/>
        </p:spPr>
      </p:sp>
      <p:sp>
        <p:nvSpPr>
          <p:cNvPr id="53" name="Cell 6-5"/>
          <p:cNvSpPr/>
          <p:nvPr/>
        </p:nvSpPr>
        <p:spPr>
          <a:xfrm>
            <a:off x="7680960" y="3657600"/>
            <a:ext cx="411480" cy="411480"/>
          </a:xfrm>
          <a:prstGeom prst="rect">
            <a:avLst/>
          </a:prstGeom>
          <a:solidFill>
            <a:srgbClr val="ECF0F1"/>
          </a:solidFill>
          <a:ln/>
        </p:spPr>
      </p:sp>
      <p:sp>
        <p:nvSpPr>
          <p:cNvPr id="54" name="Cell 6-6"/>
          <p:cNvSpPr/>
          <p:nvPr/>
        </p:nvSpPr>
        <p:spPr>
          <a:xfrm>
            <a:off x="8138160" y="3657600"/>
            <a:ext cx="411480" cy="411480"/>
          </a:xfrm>
          <a:prstGeom prst="rect">
            <a:avLst/>
          </a:prstGeom>
          <a:solidFill>
            <a:srgbClr val="E74C3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What the project does</a:t>
            </a:r>
            <a:endParaRPr lang="en-US" sz="3400" dirty="0"/>
          </a:p>
        </p:txBody>
      </p:sp>
      <p:sp>
        <p:nvSpPr>
          <p:cNvPr id="3" name="Text 1"/>
          <p:cNvSpPr txBox="1"/>
          <p:nvPr/>
        </p:nvSpPr>
        <p:spPr>
          <a:xfrm>
            <a:off x="457200" y="1005840"/>
            <a:ext cx="8229600" cy="457200"/>
          </a:xfrm>
          <a:prstGeom prst="rect">
            <a:avLst/>
          </a:prstGeom>
          <a:noFill/>
          <a:ln/>
        </p:spPr>
        <p:txBody>
          <a:bodyPr wrap="square" lIns="0" tIns="0" rIns="0" bIns="0" rtlCol="0" anchor="t"/>
          <a:lstStyle/>
          <a:p>
            <a:pPr marL="0" indent="0">
              <a:buNone/>
            </a:pPr>
            <a:r>
              <a:rPr lang="en-US" sz="1600" dirty="0">
                <a:solidFill>
                  <a:srgbClr val="566573"/>
                </a:solidFill>
                <a:latin typeface="Calibri" pitchFamily="34" charset="0"/>
                <a:ea typeface="Calibri" pitchFamily="34" charset="-122"/>
                <a:cs typeface="Calibri" pitchFamily="34" charset="-120"/>
              </a:rPr>
              <a:t>Shows how the choice of data structure, queue or stack, changes how a search behaves.</a:t>
            </a:r>
            <a:endParaRPr lang="en-US" sz="1600" dirty="0"/>
          </a:p>
        </p:txBody>
      </p:sp>
      <p:sp>
        <p:nvSpPr>
          <p:cNvPr id="4" name="Card Generate"/>
          <p:cNvSpPr/>
          <p:nvPr/>
        </p:nvSpPr>
        <p:spPr>
          <a:xfrm>
            <a:off x="457200" y="1645920"/>
            <a:ext cx="2560320" cy="2651760"/>
          </a:xfrm>
          <a:prstGeom prst="roundRect">
            <a:avLst>
              <a:gd name="adj" fmla="val 3571"/>
            </a:avLst>
          </a:prstGeom>
          <a:solidFill>
            <a:srgbClr val="FFFFFF"/>
          </a:solidFill>
          <a:ln/>
          <a:effectLst>
            <a:outerShdw blurRad="76200" dist="25400" dir="5400000" algn="bl" rotWithShape="0">
              <a:srgbClr val="000000">
                <a:alpha val="15000"/>
              </a:srgbClr>
            </a:outerShdw>
          </a:effectLst>
        </p:spPr>
      </p:sp>
      <p:sp>
        <p:nvSpPr>
          <p:cNvPr id="5" name="Badge 1"/>
          <p:cNvSpPr/>
          <p:nvPr/>
        </p:nvSpPr>
        <p:spPr>
          <a:xfrm>
            <a:off x="685800" y="1874520"/>
            <a:ext cx="457200" cy="457200"/>
          </a:xfrm>
          <a:prstGeom prst="ellipse">
            <a:avLst/>
          </a:prstGeom>
          <a:solidFill>
            <a:srgbClr val="5DADE2"/>
          </a:solidFill>
          <a:ln/>
        </p:spPr>
      </p:sp>
      <p:sp>
        <p:nvSpPr>
          <p:cNvPr id="6" name="Text 4"/>
          <p:cNvSpPr txBox="1"/>
          <p:nvPr/>
        </p:nvSpPr>
        <p:spPr>
          <a:xfrm>
            <a:off x="685800" y="1874520"/>
            <a:ext cx="457200" cy="457200"/>
          </a:xfrm>
          <a:prstGeom prst="rect">
            <a:avLst/>
          </a:prstGeom>
          <a:noFill/>
          <a:ln/>
        </p:spPr>
        <p:txBody>
          <a:bodyPr wrap="square" lIns="0" tIns="0" rIns="0" bIns="0" rtlCol="0" anchor="ctr"/>
          <a:lstStyle/>
          <a:p>
            <a:pPr marL="0" indent="0" algn="ctr">
              <a:buNone/>
            </a:pPr>
            <a:r>
              <a:rPr lang="en-US" sz="1600" b="1" dirty="0">
                <a:solidFill>
                  <a:srgbClr val="2C3E50"/>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685800" y="2514600"/>
            <a:ext cx="2103120" cy="365760"/>
          </a:xfrm>
          <a:prstGeom prst="rect">
            <a:avLst/>
          </a:prstGeom>
          <a:noFill/>
          <a:ln/>
        </p:spPr>
        <p:txBody>
          <a:bodyPr wrap="square" lIns="0" tIns="0" rIns="0" bIns="0" rtlCol="0" anchor="t"/>
          <a:lstStyle/>
          <a:p>
            <a:pPr marL="0" indent="0">
              <a:buNone/>
            </a:pPr>
            <a:r>
              <a:rPr lang="en-US" sz="2000" b="1" dirty="0">
                <a:solidFill>
                  <a:srgbClr val="2C3E50"/>
                </a:solidFill>
                <a:latin typeface="Cambria" pitchFamily="34" charset="0"/>
                <a:ea typeface="Cambria" pitchFamily="34" charset="-122"/>
                <a:cs typeface="Cambria" pitchFamily="34" charset="-120"/>
              </a:rPr>
              <a:t>Generate</a:t>
            </a:r>
            <a:endParaRPr lang="en-US" sz="2000" dirty="0"/>
          </a:p>
        </p:txBody>
      </p:sp>
      <p:sp>
        <p:nvSpPr>
          <p:cNvPr id="8" name="Text 6"/>
          <p:cNvSpPr txBox="1"/>
          <p:nvPr/>
        </p:nvSpPr>
        <p:spPr>
          <a:xfrm>
            <a:off x="685800" y="2971800"/>
            <a:ext cx="2103120" cy="123444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A recursive backtracker carves a random maze. The same seed always gives the same maze.</a:t>
            </a:r>
            <a:endParaRPr lang="en-US" sz="1400" dirty="0"/>
          </a:p>
        </p:txBody>
      </p:sp>
      <p:sp>
        <p:nvSpPr>
          <p:cNvPr id="9" name="Card Solve"/>
          <p:cNvSpPr/>
          <p:nvPr/>
        </p:nvSpPr>
        <p:spPr>
          <a:xfrm>
            <a:off x="3291840" y="1645920"/>
            <a:ext cx="2560320" cy="2651760"/>
          </a:xfrm>
          <a:prstGeom prst="roundRect">
            <a:avLst>
              <a:gd name="adj" fmla="val 3571"/>
            </a:avLst>
          </a:prstGeom>
          <a:solidFill>
            <a:srgbClr val="FFFFFF"/>
          </a:solidFill>
          <a:ln/>
          <a:effectLst>
            <a:outerShdw blurRad="76200" dist="25400" dir="5400000" algn="bl" rotWithShape="0">
              <a:srgbClr val="000000">
                <a:alpha val="15000"/>
              </a:srgbClr>
            </a:outerShdw>
          </a:effectLst>
        </p:spPr>
      </p:sp>
      <p:sp>
        <p:nvSpPr>
          <p:cNvPr id="10" name="Badge 2"/>
          <p:cNvSpPr/>
          <p:nvPr/>
        </p:nvSpPr>
        <p:spPr>
          <a:xfrm>
            <a:off x="3520440" y="1874520"/>
            <a:ext cx="457200" cy="457200"/>
          </a:xfrm>
          <a:prstGeom prst="ellipse">
            <a:avLst/>
          </a:prstGeom>
          <a:solidFill>
            <a:srgbClr val="5DADE2"/>
          </a:solidFill>
          <a:ln/>
        </p:spPr>
      </p:sp>
      <p:sp>
        <p:nvSpPr>
          <p:cNvPr id="11" name="Text 9"/>
          <p:cNvSpPr txBox="1"/>
          <p:nvPr/>
        </p:nvSpPr>
        <p:spPr>
          <a:xfrm>
            <a:off x="3520440" y="1874520"/>
            <a:ext cx="457200" cy="457200"/>
          </a:xfrm>
          <a:prstGeom prst="rect">
            <a:avLst/>
          </a:prstGeom>
          <a:noFill/>
          <a:ln/>
        </p:spPr>
        <p:txBody>
          <a:bodyPr wrap="square" lIns="0" tIns="0" rIns="0" bIns="0" rtlCol="0" anchor="ctr"/>
          <a:lstStyle/>
          <a:p>
            <a:pPr marL="0" indent="0" algn="ctr">
              <a:buNone/>
            </a:pPr>
            <a:r>
              <a:rPr lang="en-US" sz="1600" b="1" dirty="0">
                <a:solidFill>
                  <a:srgbClr val="2C3E50"/>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520440" y="2514600"/>
            <a:ext cx="2103120" cy="365760"/>
          </a:xfrm>
          <a:prstGeom prst="rect">
            <a:avLst/>
          </a:prstGeom>
          <a:noFill/>
          <a:ln/>
        </p:spPr>
        <p:txBody>
          <a:bodyPr wrap="square" lIns="0" tIns="0" rIns="0" bIns="0" rtlCol="0" anchor="t"/>
          <a:lstStyle/>
          <a:p>
            <a:pPr marL="0" indent="0">
              <a:buNone/>
            </a:pPr>
            <a:r>
              <a:rPr lang="en-US" sz="2000" b="1" dirty="0">
                <a:solidFill>
                  <a:srgbClr val="2C3E50"/>
                </a:solidFill>
                <a:latin typeface="Cambria" pitchFamily="34" charset="0"/>
                <a:ea typeface="Cambria" pitchFamily="34" charset="-122"/>
                <a:cs typeface="Cambria" pitchFamily="34" charset="-120"/>
              </a:rPr>
              <a:t>Solve</a:t>
            </a:r>
            <a:endParaRPr lang="en-US" sz="2000" dirty="0"/>
          </a:p>
        </p:txBody>
      </p:sp>
      <p:sp>
        <p:nvSpPr>
          <p:cNvPr id="13" name="Text 11"/>
          <p:cNvSpPr txBox="1"/>
          <p:nvPr/>
        </p:nvSpPr>
        <p:spPr>
          <a:xfrm>
            <a:off x="3520440" y="2971800"/>
            <a:ext cx="2103120" cy="123444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BFS and DFS search from the start to the goal and return the explored cells and the final path.</a:t>
            </a:r>
            <a:endParaRPr lang="en-US" sz="1400" dirty="0"/>
          </a:p>
        </p:txBody>
      </p:sp>
      <p:sp>
        <p:nvSpPr>
          <p:cNvPr id="14" name="Card Visualize"/>
          <p:cNvSpPr/>
          <p:nvPr/>
        </p:nvSpPr>
        <p:spPr>
          <a:xfrm>
            <a:off x="6126480" y="1645920"/>
            <a:ext cx="2560320" cy="2651760"/>
          </a:xfrm>
          <a:prstGeom prst="roundRect">
            <a:avLst>
              <a:gd name="adj" fmla="val 3571"/>
            </a:avLst>
          </a:prstGeom>
          <a:solidFill>
            <a:srgbClr val="FFFFFF"/>
          </a:solidFill>
          <a:ln/>
          <a:effectLst>
            <a:outerShdw blurRad="76200" dist="25400" dir="5400000" algn="bl" rotWithShape="0">
              <a:srgbClr val="000000">
                <a:alpha val="15000"/>
              </a:srgbClr>
            </a:outerShdw>
          </a:effectLst>
        </p:spPr>
      </p:sp>
      <p:sp>
        <p:nvSpPr>
          <p:cNvPr id="15" name="Badge 3"/>
          <p:cNvSpPr/>
          <p:nvPr/>
        </p:nvSpPr>
        <p:spPr>
          <a:xfrm>
            <a:off x="6355080" y="1874520"/>
            <a:ext cx="457200" cy="457200"/>
          </a:xfrm>
          <a:prstGeom prst="ellipse">
            <a:avLst/>
          </a:prstGeom>
          <a:solidFill>
            <a:srgbClr val="5DADE2"/>
          </a:solidFill>
          <a:ln/>
        </p:spPr>
      </p:sp>
      <p:sp>
        <p:nvSpPr>
          <p:cNvPr id="16" name="Text 14"/>
          <p:cNvSpPr txBox="1"/>
          <p:nvPr/>
        </p:nvSpPr>
        <p:spPr>
          <a:xfrm>
            <a:off x="6355080" y="1874520"/>
            <a:ext cx="457200" cy="457200"/>
          </a:xfrm>
          <a:prstGeom prst="rect">
            <a:avLst/>
          </a:prstGeom>
          <a:noFill/>
          <a:ln/>
        </p:spPr>
        <p:txBody>
          <a:bodyPr wrap="square" lIns="0" tIns="0" rIns="0" bIns="0" rtlCol="0" anchor="ctr"/>
          <a:lstStyle/>
          <a:p>
            <a:pPr marL="0" indent="0" algn="ctr">
              <a:buNone/>
            </a:pPr>
            <a:r>
              <a:rPr lang="en-US" sz="1600" b="1" dirty="0">
                <a:solidFill>
                  <a:srgbClr val="2C3E50"/>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355080" y="2514600"/>
            <a:ext cx="2103120" cy="365760"/>
          </a:xfrm>
          <a:prstGeom prst="rect">
            <a:avLst/>
          </a:prstGeom>
          <a:noFill/>
          <a:ln/>
        </p:spPr>
        <p:txBody>
          <a:bodyPr wrap="square" lIns="0" tIns="0" rIns="0" bIns="0" rtlCol="0" anchor="t"/>
          <a:lstStyle/>
          <a:p>
            <a:pPr marL="0" indent="0">
              <a:buNone/>
            </a:pPr>
            <a:r>
              <a:rPr lang="en-US" sz="2000" b="1" dirty="0">
                <a:solidFill>
                  <a:srgbClr val="2C3E50"/>
                </a:solidFill>
                <a:latin typeface="Cambria" pitchFamily="34" charset="0"/>
                <a:ea typeface="Cambria" pitchFamily="34" charset="-122"/>
                <a:cs typeface="Cambria" pitchFamily="34" charset="-120"/>
              </a:rPr>
              <a:t>Visualize</a:t>
            </a:r>
            <a:endParaRPr lang="en-US" sz="2000" dirty="0"/>
          </a:p>
        </p:txBody>
      </p:sp>
      <p:sp>
        <p:nvSpPr>
          <p:cNvPr id="18" name="Text 16"/>
          <p:cNvSpPr txBox="1"/>
          <p:nvPr/>
        </p:nvSpPr>
        <p:spPr>
          <a:xfrm>
            <a:off x="6355080" y="2971800"/>
            <a:ext cx="2103120" cy="123444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An SFML window replays the search step by step. Keys B, D and N run or change the maze.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Design: logic and drawing apart</a:t>
            </a:r>
            <a:endParaRPr lang="en-US" sz="3400" dirty="0"/>
          </a:p>
        </p:txBody>
      </p:sp>
      <p:sp>
        <p:nvSpPr>
          <p:cNvPr id="3" name="Box Grid"/>
          <p:cNvSpPr/>
          <p:nvPr/>
        </p:nvSpPr>
        <p:spPr>
          <a:xfrm>
            <a:off x="457200" y="1280160"/>
            <a:ext cx="1783080" cy="1737360"/>
          </a:xfrm>
          <a:prstGeom prst="roundRect">
            <a:avLst>
              <a:gd name="adj" fmla="val 5263"/>
            </a:avLst>
          </a:prstGeom>
          <a:solidFill>
            <a:srgbClr val="2C3E50"/>
          </a:solidFill>
          <a:ln/>
          <a:effectLst>
            <a:outerShdw blurRad="76200" dist="25400" dir="5400000" algn="bl" rotWithShape="0">
              <a:srgbClr val="000000">
                <a:alpha val="15000"/>
              </a:srgbClr>
            </a:outerShdw>
          </a:effectLst>
        </p:spPr>
      </p:sp>
      <p:sp>
        <p:nvSpPr>
          <p:cNvPr id="4" name="Text 2"/>
          <p:cNvSpPr txBox="1"/>
          <p:nvPr/>
        </p:nvSpPr>
        <p:spPr>
          <a:xfrm>
            <a:off x="640080" y="1463040"/>
            <a:ext cx="1463040" cy="36576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Grid</a:t>
            </a:r>
            <a:endParaRPr lang="en-US" sz="1800" dirty="0"/>
          </a:p>
        </p:txBody>
      </p:sp>
      <p:sp>
        <p:nvSpPr>
          <p:cNvPr id="5" name="Text 3"/>
          <p:cNvSpPr txBox="1"/>
          <p:nvPr/>
        </p:nvSpPr>
        <p:spPr>
          <a:xfrm>
            <a:off x="640080" y="1965960"/>
            <a:ext cx="1463040" cy="1005840"/>
          </a:xfrm>
          <a:prstGeom prst="rect">
            <a:avLst/>
          </a:prstGeom>
          <a:noFill/>
          <a:ln/>
        </p:spPr>
        <p:txBody>
          <a:bodyPr wrap="square" lIns="0" tIns="0" rIns="0" bIns="0" rtlCol="0" anchor="t"/>
          <a:lstStyle/>
          <a:p>
            <a:pPr marL="0" indent="0">
              <a:buNone/>
            </a:pPr>
            <a:r>
              <a:rPr lang="en-US" sz="1400" dirty="0">
                <a:solidFill>
                  <a:srgbClr val="ECF0F1"/>
                </a:solidFill>
                <a:latin typeface="Calibri" pitchFamily="34" charset="0"/>
                <a:ea typeface="Calibri" pitchFamily="34" charset="-122"/>
                <a:cs typeface="Calibri" pitchFamily="34" charset="-120"/>
              </a:rPr>
              <a:t>Cells, walls, start and goal in a flat vector</a:t>
            </a:r>
            <a:endParaRPr lang="en-US" sz="1400" dirty="0"/>
          </a:p>
        </p:txBody>
      </p:sp>
      <p:sp>
        <p:nvSpPr>
          <p:cNvPr id="6" name="Arrow 1"/>
          <p:cNvSpPr/>
          <p:nvPr/>
        </p:nvSpPr>
        <p:spPr>
          <a:xfrm>
            <a:off x="2258568" y="2148840"/>
            <a:ext cx="329184" cy="0"/>
          </a:xfrm>
          <a:prstGeom prst="line">
            <a:avLst/>
          </a:prstGeom>
          <a:noFill/>
          <a:ln w="25400">
            <a:solidFill>
              <a:srgbClr val="2C3E50"/>
            </a:solidFill>
            <a:prstDash val="solid"/>
            <a:tailEnd type="triangle"/>
          </a:ln>
        </p:spPr>
      </p:sp>
      <p:sp>
        <p:nvSpPr>
          <p:cNvPr id="7" name="Box Maze"/>
          <p:cNvSpPr/>
          <p:nvPr/>
        </p:nvSpPr>
        <p:spPr>
          <a:xfrm>
            <a:off x="2606040" y="1280160"/>
            <a:ext cx="1783080" cy="1737360"/>
          </a:xfrm>
          <a:prstGeom prst="roundRect">
            <a:avLst>
              <a:gd name="adj" fmla="val 5263"/>
            </a:avLst>
          </a:prstGeom>
          <a:solidFill>
            <a:srgbClr val="2C3E50"/>
          </a:solidFill>
          <a:ln/>
          <a:effectLst>
            <a:outerShdw blurRad="76200" dist="25400" dir="5400000" algn="bl" rotWithShape="0">
              <a:srgbClr val="000000">
                <a:alpha val="15000"/>
              </a:srgbClr>
            </a:outerShdw>
          </a:effectLst>
        </p:spPr>
      </p:sp>
      <p:sp>
        <p:nvSpPr>
          <p:cNvPr id="8" name="Text 6"/>
          <p:cNvSpPr txBox="1"/>
          <p:nvPr/>
        </p:nvSpPr>
        <p:spPr>
          <a:xfrm>
            <a:off x="2788920" y="1463040"/>
            <a:ext cx="1463040" cy="36576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Maze</a:t>
            </a:r>
            <a:endParaRPr lang="en-US" sz="1800" dirty="0"/>
          </a:p>
        </p:txBody>
      </p:sp>
      <p:sp>
        <p:nvSpPr>
          <p:cNvPr id="9" name="Text 7"/>
          <p:cNvSpPr txBox="1"/>
          <p:nvPr/>
        </p:nvSpPr>
        <p:spPr>
          <a:xfrm>
            <a:off x="2788920" y="1965960"/>
            <a:ext cx="1463040" cy="1005840"/>
          </a:xfrm>
          <a:prstGeom prst="rect">
            <a:avLst/>
          </a:prstGeom>
          <a:noFill/>
          <a:ln/>
        </p:spPr>
        <p:txBody>
          <a:bodyPr wrap="square" lIns="0" tIns="0" rIns="0" bIns="0" rtlCol="0" anchor="t"/>
          <a:lstStyle/>
          <a:p>
            <a:pPr marL="0" indent="0">
              <a:buNone/>
            </a:pPr>
            <a:r>
              <a:rPr lang="en-US" sz="1400" dirty="0">
                <a:solidFill>
                  <a:srgbClr val="ECF0F1"/>
                </a:solidFill>
                <a:latin typeface="Calibri" pitchFamily="34" charset="0"/>
                <a:ea typeface="Calibri" pitchFamily="34" charset="-122"/>
                <a:cs typeface="Calibri" pitchFamily="34" charset="-120"/>
              </a:rPr>
              <a:t>Recursive backtracker and optional loops</a:t>
            </a:r>
            <a:endParaRPr lang="en-US" sz="1400" dirty="0"/>
          </a:p>
        </p:txBody>
      </p:sp>
      <p:sp>
        <p:nvSpPr>
          <p:cNvPr id="10" name="Arrow 2"/>
          <p:cNvSpPr/>
          <p:nvPr/>
        </p:nvSpPr>
        <p:spPr>
          <a:xfrm>
            <a:off x="4407408" y="2148840"/>
            <a:ext cx="329184" cy="0"/>
          </a:xfrm>
          <a:prstGeom prst="line">
            <a:avLst/>
          </a:prstGeom>
          <a:noFill/>
          <a:ln w="25400">
            <a:solidFill>
              <a:srgbClr val="2C3E50"/>
            </a:solidFill>
            <a:prstDash val="solid"/>
            <a:tailEnd type="triangle"/>
          </a:ln>
        </p:spPr>
      </p:sp>
      <p:sp>
        <p:nvSpPr>
          <p:cNvPr id="11" name="Box Pathfinder"/>
          <p:cNvSpPr/>
          <p:nvPr/>
        </p:nvSpPr>
        <p:spPr>
          <a:xfrm>
            <a:off x="4754880" y="1280160"/>
            <a:ext cx="1783080" cy="1737360"/>
          </a:xfrm>
          <a:prstGeom prst="roundRect">
            <a:avLst>
              <a:gd name="adj" fmla="val 5263"/>
            </a:avLst>
          </a:prstGeom>
          <a:solidFill>
            <a:srgbClr val="2C3E50"/>
          </a:solidFill>
          <a:ln/>
          <a:effectLst>
            <a:outerShdw blurRad="76200" dist="25400" dir="5400000" algn="bl" rotWithShape="0">
              <a:srgbClr val="000000">
                <a:alpha val="15000"/>
              </a:srgbClr>
            </a:outerShdw>
          </a:effectLst>
        </p:spPr>
      </p:sp>
      <p:sp>
        <p:nvSpPr>
          <p:cNvPr id="12" name="Text 10"/>
          <p:cNvSpPr txBox="1"/>
          <p:nvPr/>
        </p:nvSpPr>
        <p:spPr>
          <a:xfrm>
            <a:off x="4937760" y="1463040"/>
            <a:ext cx="1463040" cy="36576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Pathfinder</a:t>
            </a:r>
            <a:endParaRPr lang="en-US" sz="1800" dirty="0"/>
          </a:p>
        </p:txBody>
      </p:sp>
      <p:sp>
        <p:nvSpPr>
          <p:cNvPr id="13" name="Text 11"/>
          <p:cNvSpPr txBox="1"/>
          <p:nvPr/>
        </p:nvSpPr>
        <p:spPr>
          <a:xfrm>
            <a:off x="4937760" y="1965960"/>
            <a:ext cx="1463040" cy="1005840"/>
          </a:xfrm>
          <a:prstGeom prst="rect">
            <a:avLst/>
          </a:prstGeom>
          <a:noFill/>
          <a:ln/>
        </p:spPr>
        <p:txBody>
          <a:bodyPr wrap="square" lIns="0" tIns="0" rIns="0" bIns="0" rtlCol="0" anchor="t"/>
          <a:lstStyle/>
          <a:p>
            <a:pPr marL="0" indent="0">
              <a:buNone/>
            </a:pPr>
            <a:r>
              <a:rPr lang="en-US" sz="1400" dirty="0">
                <a:solidFill>
                  <a:srgbClr val="ECF0F1"/>
                </a:solidFill>
                <a:latin typeface="Calibri" pitchFamily="34" charset="0"/>
                <a:ea typeface="Calibri" pitchFamily="34" charset="-122"/>
                <a:cs typeface="Calibri" pitchFamily="34" charset="-120"/>
              </a:rPr>
              <a:t>BFS and DFS return a SearchResult</a:t>
            </a:r>
            <a:endParaRPr lang="en-US" sz="1400" dirty="0"/>
          </a:p>
        </p:txBody>
      </p:sp>
      <p:sp>
        <p:nvSpPr>
          <p:cNvPr id="14" name="Arrow 3"/>
          <p:cNvSpPr/>
          <p:nvPr/>
        </p:nvSpPr>
        <p:spPr>
          <a:xfrm>
            <a:off x="6556248" y="2148840"/>
            <a:ext cx="329184" cy="0"/>
          </a:xfrm>
          <a:prstGeom prst="line">
            <a:avLst/>
          </a:prstGeom>
          <a:noFill/>
          <a:ln w="25400">
            <a:solidFill>
              <a:srgbClr val="2C3E50"/>
            </a:solidFill>
            <a:prstDash val="solid"/>
            <a:tailEnd type="triangle"/>
          </a:ln>
        </p:spPr>
      </p:sp>
      <p:sp>
        <p:nvSpPr>
          <p:cNvPr id="15" name="Box Renderer"/>
          <p:cNvSpPr/>
          <p:nvPr/>
        </p:nvSpPr>
        <p:spPr>
          <a:xfrm>
            <a:off x="6903720" y="1280160"/>
            <a:ext cx="1783080" cy="1737360"/>
          </a:xfrm>
          <a:prstGeom prst="roundRect">
            <a:avLst>
              <a:gd name="adj" fmla="val 5263"/>
            </a:avLst>
          </a:prstGeom>
          <a:solidFill>
            <a:srgbClr val="5DADE2"/>
          </a:solidFill>
          <a:ln/>
          <a:effectLst>
            <a:outerShdw blurRad="76200" dist="25400" dir="5400000" algn="bl" rotWithShape="0">
              <a:srgbClr val="000000">
                <a:alpha val="15000"/>
              </a:srgbClr>
            </a:outerShdw>
          </a:effectLst>
        </p:spPr>
      </p:sp>
      <p:sp>
        <p:nvSpPr>
          <p:cNvPr id="16" name="Text 14"/>
          <p:cNvSpPr txBox="1"/>
          <p:nvPr/>
        </p:nvSpPr>
        <p:spPr>
          <a:xfrm>
            <a:off x="7086600" y="1463040"/>
            <a:ext cx="1463040" cy="365760"/>
          </a:xfrm>
          <a:prstGeom prst="rect">
            <a:avLst/>
          </a:prstGeom>
          <a:noFill/>
          <a:ln/>
        </p:spPr>
        <p:txBody>
          <a:bodyPr wrap="square" lIns="0" tIns="0" rIns="0" bIns="0" rtlCol="0" anchor="t"/>
          <a:lstStyle/>
          <a:p>
            <a:pPr marL="0" indent="0">
              <a:buNone/>
            </a:pPr>
            <a:r>
              <a:rPr lang="en-US" sz="1800" b="1" dirty="0">
                <a:solidFill>
                  <a:srgbClr val="2C3E50"/>
                </a:solidFill>
                <a:latin typeface="Cambria" pitchFamily="34" charset="0"/>
                <a:ea typeface="Cambria" pitchFamily="34" charset="-122"/>
                <a:cs typeface="Cambria" pitchFamily="34" charset="-120"/>
              </a:rPr>
              <a:t>Renderer</a:t>
            </a:r>
            <a:endParaRPr lang="en-US" sz="1800" dirty="0"/>
          </a:p>
        </p:txBody>
      </p:sp>
      <p:sp>
        <p:nvSpPr>
          <p:cNvPr id="17" name="Text 15"/>
          <p:cNvSpPr txBox="1"/>
          <p:nvPr/>
        </p:nvSpPr>
        <p:spPr>
          <a:xfrm>
            <a:off x="7086600" y="1965960"/>
            <a:ext cx="1463040" cy="100584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SFML window replays the result</a:t>
            </a:r>
            <a:endParaRPr lang="en-US" sz="1400" dirty="0"/>
          </a:p>
        </p:txBody>
      </p:sp>
      <p:sp>
        <p:nvSpPr>
          <p:cNvPr id="18" name="Design rule"/>
          <p:cNvSpPr/>
          <p:nvPr/>
        </p:nvSpPr>
        <p:spPr>
          <a:xfrm>
            <a:off x="457200" y="3337560"/>
            <a:ext cx="8229600" cy="1097280"/>
          </a:xfrm>
          <a:prstGeom prst="roundRect">
            <a:avLst>
              <a:gd name="adj" fmla="val 8333"/>
            </a:avLst>
          </a:prstGeom>
          <a:solidFill>
            <a:srgbClr val="FFFFFF"/>
          </a:solidFill>
          <a:ln/>
          <a:effectLst>
            <a:outerShdw blurRad="76200" dist="25400" dir="5400000" algn="bl" rotWithShape="0">
              <a:srgbClr val="000000">
                <a:alpha val="15000"/>
              </a:srgbClr>
            </a:outerShdw>
          </a:effectLst>
        </p:spPr>
      </p:sp>
      <p:sp>
        <p:nvSpPr>
          <p:cNvPr id="19" name="Text 17"/>
          <p:cNvSpPr txBox="1"/>
          <p:nvPr/>
        </p:nvSpPr>
        <p:spPr>
          <a:xfrm>
            <a:off x="731520" y="3520440"/>
            <a:ext cx="7680960" cy="77724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Design rule: the algorithms never print or draw. They return the visit order and the path, and the renderer only replays them. The tests link the algorithm library without SFML, so they run with no window.</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A grid is a graph</a:t>
            </a:r>
            <a:endParaRPr lang="en-US" sz="3400" dirty="0"/>
          </a:p>
        </p:txBody>
      </p:sp>
      <p:sp>
        <p:nvSpPr>
          <p:cNvPr id="3" name="Text 1"/>
          <p:cNvSpPr txBox="1"/>
          <p:nvPr/>
        </p:nvSpPr>
        <p:spPr>
          <a:xfrm>
            <a:off x="457200" y="1280160"/>
            <a:ext cx="4572000" cy="2926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Every open cell is a node</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Edges join a cell to its up, right, down and left neighbours</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Walls and the border are never entered</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A flat vector stores the grid: index = row × cols + col</a:t>
            </a:r>
            <a:endParaRPr lang="en-US" sz="1600" dirty="0"/>
          </a:p>
        </p:txBody>
      </p:sp>
      <p:sp>
        <p:nvSpPr>
          <p:cNvPr id="4" name="Index 0"/>
          <p:cNvSpPr/>
          <p:nvPr/>
        </p:nvSpPr>
        <p:spPr>
          <a:xfrm>
            <a:off x="5669280" y="1280160"/>
            <a:ext cx="731520" cy="731520"/>
          </a:xfrm>
          <a:prstGeom prst="rect">
            <a:avLst/>
          </a:prstGeom>
          <a:solidFill>
            <a:srgbClr val="FFFFFF"/>
          </a:solidFill>
          <a:ln w="12700">
            <a:solidFill>
              <a:srgbClr val="3D566E"/>
            </a:solidFill>
            <a:prstDash val="solid"/>
          </a:ln>
        </p:spPr>
      </p:sp>
      <p:sp>
        <p:nvSpPr>
          <p:cNvPr id="5" name="Text 3"/>
          <p:cNvSpPr txBox="1"/>
          <p:nvPr/>
        </p:nvSpPr>
        <p:spPr>
          <a:xfrm>
            <a:off x="5669280" y="1280160"/>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0</a:t>
            </a:r>
            <a:endParaRPr lang="en-US" sz="2000" dirty="0"/>
          </a:p>
        </p:txBody>
      </p:sp>
      <p:sp>
        <p:nvSpPr>
          <p:cNvPr id="6" name="Index 1"/>
          <p:cNvSpPr/>
          <p:nvPr/>
        </p:nvSpPr>
        <p:spPr>
          <a:xfrm>
            <a:off x="6473952" y="1280160"/>
            <a:ext cx="731520" cy="731520"/>
          </a:xfrm>
          <a:prstGeom prst="rect">
            <a:avLst/>
          </a:prstGeom>
          <a:solidFill>
            <a:srgbClr val="FFFFFF"/>
          </a:solidFill>
          <a:ln w="12700">
            <a:solidFill>
              <a:srgbClr val="3D566E"/>
            </a:solidFill>
            <a:prstDash val="solid"/>
          </a:ln>
        </p:spPr>
      </p:sp>
      <p:sp>
        <p:nvSpPr>
          <p:cNvPr id="7" name="Text 5"/>
          <p:cNvSpPr txBox="1"/>
          <p:nvPr/>
        </p:nvSpPr>
        <p:spPr>
          <a:xfrm>
            <a:off x="6473952" y="1280160"/>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1</a:t>
            </a:r>
            <a:endParaRPr lang="en-US" sz="2000" dirty="0"/>
          </a:p>
        </p:txBody>
      </p:sp>
      <p:sp>
        <p:nvSpPr>
          <p:cNvPr id="8" name="Index 2"/>
          <p:cNvSpPr/>
          <p:nvPr/>
        </p:nvSpPr>
        <p:spPr>
          <a:xfrm>
            <a:off x="7278624" y="1280160"/>
            <a:ext cx="731520" cy="731520"/>
          </a:xfrm>
          <a:prstGeom prst="rect">
            <a:avLst/>
          </a:prstGeom>
          <a:solidFill>
            <a:srgbClr val="FFFFFF"/>
          </a:solidFill>
          <a:ln w="12700">
            <a:solidFill>
              <a:srgbClr val="3D566E"/>
            </a:solidFill>
            <a:prstDash val="solid"/>
          </a:ln>
        </p:spPr>
      </p:sp>
      <p:sp>
        <p:nvSpPr>
          <p:cNvPr id="9" name="Text 7"/>
          <p:cNvSpPr txBox="1"/>
          <p:nvPr/>
        </p:nvSpPr>
        <p:spPr>
          <a:xfrm>
            <a:off x="7278624" y="1280160"/>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2</a:t>
            </a:r>
            <a:endParaRPr lang="en-US" sz="2000" dirty="0"/>
          </a:p>
        </p:txBody>
      </p:sp>
      <p:sp>
        <p:nvSpPr>
          <p:cNvPr id="10" name="Index 3"/>
          <p:cNvSpPr/>
          <p:nvPr/>
        </p:nvSpPr>
        <p:spPr>
          <a:xfrm>
            <a:off x="5669280" y="2084832"/>
            <a:ext cx="731520" cy="731520"/>
          </a:xfrm>
          <a:prstGeom prst="rect">
            <a:avLst/>
          </a:prstGeom>
          <a:solidFill>
            <a:srgbClr val="FFFFFF"/>
          </a:solidFill>
          <a:ln w="12700">
            <a:solidFill>
              <a:srgbClr val="3D566E"/>
            </a:solidFill>
            <a:prstDash val="solid"/>
          </a:ln>
        </p:spPr>
      </p:sp>
      <p:sp>
        <p:nvSpPr>
          <p:cNvPr id="11" name="Text 9"/>
          <p:cNvSpPr txBox="1"/>
          <p:nvPr/>
        </p:nvSpPr>
        <p:spPr>
          <a:xfrm>
            <a:off x="5669280" y="2084832"/>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3</a:t>
            </a:r>
            <a:endParaRPr lang="en-US" sz="2000" dirty="0"/>
          </a:p>
        </p:txBody>
      </p:sp>
      <p:sp>
        <p:nvSpPr>
          <p:cNvPr id="12" name="Index 4"/>
          <p:cNvSpPr/>
          <p:nvPr/>
        </p:nvSpPr>
        <p:spPr>
          <a:xfrm>
            <a:off x="6473952" y="2084832"/>
            <a:ext cx="731520" cy="731520"/>
          </a:xfrm>
          <a:prstGeom prst="rect">
            <a:avLst/>
          </a:prstGeom>
          <a:solidFill>
            <a:srgbClr val="5DADE2"/>
          </a:solidFill>
          <a:ln w="12700">
            <a:solidFill>
              <a:srgbClr val="3D566E"/>
            </a:solidFill>
            <a:prstDash val="solid"/>
          </a:ln>
        </p:spPr>
      </p:sp>
      <p:sp>
        <p:nvSpPr>
          <p:cNvPr id="13" name="Text 11"/>
          <p:cNvSpPr txBox="1"/>
          <p:nvPr/>
        </p:nvSpPr>
        <p:spPr>
          <a:xfrm>
            <a:off x="6473952" y="2084832"/>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4</a:t>
            </a:r>
            <a:endParaRPr lang="en-US" sz="2000" dirty="0"/>
          </a:p>
        </p:txBody>
      </p:sp>
      <p:sp>
        <p:nvSpPr>
          <p:cNvPr id="14" name="Index 5"/>
          <p:cNvSpPr/>
          <p:nvPr/>
        </p:nvSpPr>
        <p:spPr>
          <a:xfrm>
            <a:off x="7278624" y="2084832"/>
            <a:ext cx="731520" cy="731520"/>
          </a:xfrm>
          <a:prstGeom prst="rect">
            <a:avLst/>
          </a:prstGeom>
          <a:solidFill>
            <a:srgbClr val="FFFFFF"/>
          </a:solidFill>
          <a:ln w="12700">
            <a:solidFill>
              <a:srgbClr val="3D566E"/>
            </a:solidFill>
            <a:prstDash val="solid"/>
          </a:ln>
        </p:spPr>
      </p:sp>
      <p:sp>
        <p:nvSpPr>
          <p:cNvPr id="15" name="Text 13"/>
          <p:cNvSpPr txBox="1"/>
          <p:nvPr/>
        </p:nvSpPr>
        <p:spPr>
          <a:xfrm>
            <a:off x="7278624" y="2084832"/>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5</a:t>
            </a:r>
            <a:endParaRPr lang="en-US" sz="2000" dirty="0"/>
          </a:p>
        </p:txBody>
      </p:sp>
      <p:sp>
        <p:nvSpPr>
          <p:cNvPr id="16" name="Index 6"/>
          <p:cNvSpPr/>
          <p:nvPr/>
        </p:nvSpPr>
        <p:spPr>
          <a:xfrm>
            <a:off x="5669280" y="2889504"/>
            <a:ext cx="731520" cy="731520"/>
          </a:xfrm>
          <a:prstGeom prst="rect">
            <a:avLst/>
          </a:prstGeom>
          <a:solidFill>
            <a:srgbClr val="5DADE2"/>
          </a:solidFill>
          <a:ln w="12700">
            <a:solidFill>
              <a:srgbClr val="3D566E"/>
            </a:solidFill>
            <a:prstDash val="solid"/>
          </a:ln>
        </p:spPr>
      </p:sp>
      <p:sp>
        <p:nvSpPr>
          <p:cNvPr id="17" name="Text 15"/>
          <p:cNvSpPr txBox="1"/>
          <p:nvPr/>
        </p:nvSpPr>
        <p:spPr>
          <a:xfrm>
            <a:off x="5669280" y="2889504"/>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6</a:t>
            </a:r>
            <a:endParaRPr lang="en-US" sz="2000" dirty="0"/>
          </a:p>
        </p:txBody>
      </p:sp>
      <p:sp>
        <p:nvSpPr>
          <p:cNvPr id="18" name="Index 7"/>
          <p:cNvSpPr/>
          <p:nvPr/>
        </p:nvSpPr>
        <p:spPr>
          <a:xfrm>
            <a:off x="6473952" y="2889504"/>
            <a:ext cx="731520" cy="731520"/>
          </a:xfrm>
          <a:prstGeom prst="rect">
            <a:avLst/>
          </a:prstGeom>
          <a:solidFill>
            <a:srgbClr val="F1C40F"/>
          </a:solidFill>
          <a:ln w="12700">
            <a:solidFill>
              <a:srgbClr val="3D566E"/>
            </a:solidFill>
            <a:prstDash val="solid"/>
          </a:ln>
        </p:spPr>
      </p:sp>
      <p:sp>
        <p:nvSpPr>
          <p:cNvPr id="19" name="Text 17"/>
          <p:cNvSpPr txBox="1"/>
          <p:nvPr/>
        </p:nvSpPr>
        <p:spPr>
          <a:xfrm>
            <a:off x="6473952" y="2889504"/>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7</a:t>
            </a:r>
            <a:endParaRPr lang="en-US" sz="2000" dirty="0"/>
          </a:p>
        </p:txBody>
      </p:sp>
      <p:sp>
        <p:nvSpPr>
          <p:cNvPr id="20" name="Index 8"/>
          <p:cNvSpPr/>
          <p:nvPr/>
        </p:nvSpPr>
        <p:spPr>
          <a:xfrm>
            <a:off x="7278624" y="2889504"/>
            <a:ext cx="731520" cy="731520"/>
          </a:xfrm>
          <a:prstGeom prst="rect">
            <a:avLst/>
          </a:prstGeom>
          <a:solidFill>
            <a:srgbClr val="5DADE2"/>
          </a:solidFill>
          <a:ln w="12700">
            <a:solidFill>
              <a:srgbClr val="3D566E"/>
            </a:solidFill>
            <a:prstDash val="solid"/>
          </a:ln>
        </p:spPr>
      </p:sp>
      <p:sp>
        <p:nvSpPr>
          <p:cNvPr id="21" name="Text 19"/>
          <p:cNvSpPr txBox="1"/>
          <p:nvPr/>
        </p:nvSpPr>
        <p:spPr>
          <a:xfrm>
            <a:off x="7278624" y="2889504"/>
            <a:ext cx="731520" cy="731520"/>
          </a:xfrm>
          <a:prstGeom prst="rect">
            <a:avLst/>
          </a:prstGeom>
          <a:noFill/>
          <a:ln/>
        </p:spPr>
        <p:txBody>
          <a:bodyPr wrap="square" lIns="0" tIns="0" rIns="0" bIns="0" rtlCol="0" anchor="ctr"/>
          <a:lstStyle/>
          <a:p>
            <a:pPr marL="0" indent="0" algn="ctr">
              <a:buNone/>
            </a:pPr>
            <a:r>
              <a:rPr lang="en-US" sz="2000" b="1" dirty="0">
                <a:solidFill>
                  <a:srgbClr val="2C3E50"/>
                </a:solidFill>
                <a:latin typeface="Cambria" pitchFamily="34" charset="0"/>
                <a:ea typeface="Cambria" pitchFamily="34" charset="-122"/>
                <a:cs typeface="Cambria" pitchFamily="34" charset="-120"/>
              </a:rPr>
              <a:t>8</a:t>
            </a:r>
            <a:endParaRPr lang="en-US" sz="2000" dirty="0"/>
          </a:p>
        </p:txBody>
      </p:sp>
      <p:sp>
        <p:nvSpPr>
          <p:cNvPr id="22" name="Text 20"/>
          <p:cNvSpPr txBox="1"/>
          <p:nvPr/>
        </p:nvSpPr>
        <p:spPr>
          <a:xfrm>
            <a:off x="5486400" y="3840480"/>
            <a:ext cx="3108960" cy="640080"/>
          </a:xfrm>
          <a:prstGeom prst="rect">
            <a:avLst/>
          </a:prstGeom>
          <a:noFill/>
          <a:ln/>
        </p:spPr>
        <p:txBody>
          <a:bodyPr wrap="square" lIns="0" tIns="0" rIns="0" bIns="0" rtlCol="0" anchor="t"/>
          <a:lstStyle/>
          <a:p>
            <a:pPr marL="0" indent="0">
              <a:buNone/>
            </a:pPr>
            <a:r>
              <a:rPr lang="en-US" sz="1200" dirty="0">
                <a:solidFill>
                  <a:srgbClr val="566573"/>
                </a:solidFill>
                <a:latin typeface="Calibri" pitchFamily="34" charset="0"/>
                <a:ea typeface="Calibri" pitchFamily="34" charset="-122"/>
                <a:cs typeface="Calibri" pitchFamily="34" charset="-120"/>
              </a:rPr>
              <a:t>Cell 7 is row 2, column 1. The bottom edge is the border, so it has three neighbours.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Breadth-first search</a:t>
            </a:r>
            <a:endParaRPr lang="en-US" sz="3400" dirty="0"/>
          </a:p>
        </p:txBody>
      </p:sp>
      <p:sp>
        <p:nvSpPr>
          <p:cNvPr id="3" name="Steps card"/>
          <p:cNvSpPr/>
          <p:nvPr/>
        </p:nvSpPr>
        <p:spPr>
          <a:xfrm>
            <a:off x="457200" y="1280160"/>
            <a:ext cx="5029200" cy="3108960"/>
          </a:xfrm>
          <a:prstGeom prst="roundRect">
            <a:avLst>
              <a:gd name="adj" fmla="val 2941"/>
            </a:avLst>
          </a:prstGeom>
          <a:solidFill>
            <a:srgbClr val="FFFFFF"/>
          </a:solidFill>
          <a:ln/>
          <a:effectLst>
            <a:outerShdw blurRad="76200" dist="25400" dir="5400000" algn="bl" rotWithShape="0">
              <a:srgbClr val="000000">
                <a:alpha val="15000"/>
              </a:srgbClr>
            </a:outerShdw>
          </a:effectLst>
        </p:spPr>
      </p:sp>
      <p:sp>
        <p:nvSpPr>
          <p:cNvPr id="4" name="Text 2"/>
          <p:cNvSpPr txBox="1"/>
          <p:nvPr/>
        </p:nvSpPr>
        <p:spPr>
          <a:xfrm>
            <a:off x="731520" y="1508760"/>
            <a:ext cx="4480560" cy="269748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Push the start cell onto a queue</a:t>
            </a:r>
            <a:endParaRPr lang="en-US" sz="1600" dirty="0"/>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Pop the oldest cell and mark it explored</a:t>
            </a:r>
            <a:endParaRPr lang="en-US" sz="1600" dirty="0"/>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Push each open, unseen neighbour and record where it came from</a:t>
            </a:r>
            <a:endParaRPr lang="en-US" sz="1600" dirty="0"/>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Stop at the goal, then follow the parents back to the start</a:t>
            </a:r>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Slower compared to depth-first search</a:t>
            </a:r>
            <a:endParaRPr lang="en-US" sz="1600" dirty="0"/>
          </a:p>
        </p:txBody>
      </p:sp>
      <p:sp>
        <p:nvSpPr>
          <p:cNvPr id="5" name="Stat 1"/>
          <p:cNvSpPr/>
          <p:nvPr/>
        </p:nvSpPr>
        <p:spPr>
          <a:xfrm>
            <a:off x="5852160" y="1280160"/>
            <a:ext cx="283464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6" name="Text 4"/>
          <p:cNvSpPr txBox="1"/>
          <p:nvPr/>
        </p:nvSpPr>
        <p:spPr>
          <a:xfrm>
            <a:off x="6080760" y="1463040"/>
            <a:ext cx="2377440" cy="640080"/>
          </a:xfrm>
          <a:prstGeom prst="rect">
            <a:avLst/>
          </a:prstGeom>
          <a:noFill/>
          <a:ln/>
        </p:spPr>
        <p:txBody>
          <a:bodyPr wrap="square" lIns="0" tIns="0" rIns="0" bIns="0" rtlCol="0" anchor="ctr"/>
          <a:lstStyle/>
          <a:p>
            <a:pPr marL="0" indent="0">
              <a:buNone/>
            </a:pPr>
            <a:r>
              <a:rPr lang="en-US" sz="3200" b="1" dirty="0">
                <a:solidFill>
                  <a:srgbClr val="2C3E50"/>
                </a:solidFill>
                <a:latin typeface="Cambria" pitchFamily="34" charset="0"/>
                <a:ea typeface="Cambria" pitchFamily="34" charset="-122"/>
                <a:cs typeface="Cambria" pitchFamily="34" charset="-120"/>
              </a:rPr>
              <a:t>Shortest</a:t>
            </a:r>
            <a:endParaRPr lang="en-US" sz="3200" dirty="0"/>
          </a:p>
        </p:txBody>
      </p:sp>
      <p:sp>
        <p:nvSpPr>
          <p:cNvPr id="7" name="Text 5"/>
          <p:cNvSpPr txBox="1"/>
          <p:nvPr/>
        </p:nvSpPr>
        <p:spPr>
          <a:xfrm>
            <a:off x="6080760" y="2148840"/>
            <a:ext cx="2377440" cy="457200"/>
          </a:xfrm>
          <a:prstGeom prst="rect">
            <a:avLst/>
          </a:prstGeom>
          <a:noFill/>
          <a:ln/>
        </p:spPr>
        <p:txBody>
          <a:bodyPr wrap="square" lIns="0" tIns="0" rIns="0" bIns="0" rtlCol="0" anchor="t"/>
          <a:lstStyle/>
          <a:p>
            <a:pPr marL="0" indent="0">
              <a:buNone/>
            </a:pPr>
            <a:r>
              <a:rPr lang="en-US" sz="1400" dirty="0">
                <a:solidFill>
                  <a:srgbClr val="566573"/>
                </a:solidFill>
                <a:latin typeface="Calibri" pitchFamily="34" charset="0"/>
                <a:ea typeface="Calibri" pitchFamily="34" charset="-122"/>
                <a:cs typeface="Calibri" pitchFamily="34" charset="-120"/>
              </a:rPr>
              <a:t>path when every step costs the same</a:t>
            </a:r>
            <a:endParaRPr lang="en-US" sz="1400" dirty="0"/>
          </a:p>
        </p:txBody>
      </p:sp>
      <p:sp>
        <p:nvSpPr>
          <p:cNvPr id="8" name="Stat 2"/>
          <p:cNvSpPr/>
          <p:nvPr/>
        </p:nvSpPr>
        <p:spPr>
          <a:xfrm>
            <a:off x="5852160" y="2926080"/>
            <a:ext cx="283464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9" name="Text 7"/>
          <p:cNvSpPr txBox="1"/>
          <p:nvPr/>
        </p:nvSpPr>
        <p:spPr>
          <a:xfrm>
            <a:off x="6080760" y="3108960"/>
            <a:ext cx="2377440" cy="640080"/>
          </a:xfrm>
          <a:prstGeom prst="rect">
            <a:avLst/>
          </a:prstGeom>
          <a:noFill/>
          <a:ln/>
        </p:spPr>
        <p:txBody>
          <a:bodyPr wrap="square" lIns="0" tIns="0" rIns="0" bIns="0" rtlCol="0" anchor="ctr"/>
          <a:lstStyle/>
          <a:p>
            <a:pPr marL="0" indent="0">
              <a:buNone/>
            </a:pPr>
            <a:r>
              <a:rPr lang="en-US" sz="3200" b="1" dirty="0">
                <a:solidFill>
                  <a:srgbClr val="2C3E50"/>
                </a:solidFill>
                <a:latin typeface="Cambria" pitchFamily="34" charset="0"/>
                <a:ea typeface="Cambria" pitchFamily="34" charset="-122"/>
                <a:cs typeface="Cambria" pitchFamily="34" charset="-120"/>
              </a:rPr>
              <a:t>O(V)</a:t>
            </a:r>
            <a:endParaRPr lang="en-US" sz="3200" dirty="0"/>
          </a:p>
        </p:txBody>
      </p:sp>
      <p:sp>
        <p:nvSpPr>
          <p:cNvPr id="10" name="Text 8"/>
          <p:cNvSpPr txBox="1"/>
          <p:nvPr/>
        </p:nvSpPr>
        <p:spPr>
          <a:xfrm>
            <a:off x="6080760" y="3794760"/>
            <a:ext cx="2377440" cy="457200"/>
          </a:xfrm>
          <a:prstGeom prst="rect">
            <a:avLst/>
          </a:prstGeom>
          <a:noFill/>
          <a:ln/>
        </p:spPr>
        <p:txBody>
          <a:bodyPr wrap="square" lIns="0" tIns="0" rIns="0" bIns="0" rtlCol="0" anchor="t"/>
          <a:lstStyle/>
          <a:p>
            <a:pPr marL="0" indent="0">
              <a:buNone/>
            </a:pPr>
            <a:r>
              <a:rPr lang="en-US" sz="1400" dirty="0">
                <a:solidFill>
                  <a:srgbClr val="566573"/>
                </a:solidFill>
                <a:latin typeface="Calibri" pitchFamily="34" charset="0"/>
                <a:ea typeface="Calibri" pitchFamily="34" charset="-122"/>
                <a:cs typeface="Calibri" pitchFamily="34" charset="-120"/>
              </a:rPr>
              <a:t>time and space, V = rows × cols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Depth-first search</a:t>
            </a:r>
            <a:endParaRPr lang="en-US" sz="3400" dirty="0"/>
          </a:p>
        </p:txBody>
      </p:sp>
      <p:sp>
        <p:nvSpPr>
          <p:cNvPr id="3" name="Steps card"/>
          <p:cNvSpPr/>
          <p:nvPr/>
        </p:nvSpPr>
        <p:spPr>
          <a:xfrm>
            <a:off x="3657600" y="1280160"/>
            <a:ext cx="5029200" cy="3108960"/>
          </a:xfrm>
          <a:prstGeom prst="roundRect">
            <a:avLst>
              <a:gd name="adj" fmla="val 2941"/>
            </a:avLst>
          </a:prstGeom>
          <a:solidFill>
            <a:srgbClr val="FFFFFF"/>
          </a:solidFill>
          <a:ln/>
          <a:effectLst>
            <a:outerShdw blurRad="76200" dist="25400" dir="5400000" algn="bl" rotWithShape="0">
              <a:srgbClr val="000000">
                <a:alpha val="15000"/>
              </a:srgbClr>
            </a:outerShdw>
          </a:effectLst>
        </p:spPr>
      </p:sp>
      <p:sp>
        <p:nvSpPr>
          <p:cNvPr id="4" name="Text 2"/>
          <p:cNvSpPr txBox="1"/>
          <p:nvPr/>
        </p:nvSpPr>
        <p:spPr>
          <a:xfrm>
            <a:off x="3931920" y="1508760"/>
            <a:ext cx="4480560" cy="269748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Push the start cell onto a stack</a:t>
            </a:r>
            <a:endParaRPr lang="en-US" sz="1600" dirty="0"/>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Pop the newest cell, skipping it if already explored</a:t>
            </a:r>
            <a:endParaRPr lang="en-US" sz="1600" dirty="0"/>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Push its open, unseen neighbours with the cell they came from</a:t>
            </a:r>
            <a:endParaRPr lang="en-US" sz="1600" dirty="0"/>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Stop at the goal, then follow the parents back to the start</a:t>
            </a:r>
          </a:p>
          <a:p>
            <a:pPr marL="342900" indent="-342900">
              <a:spcAft>
                <a:spcPts val="1000"/>
              </a:spcAft>
              <a:buSzPct val="100000"/>
              <a:buFont typeface="+mj-lt"/>
              <a:buAutoNum type="arabicPeriod"/>
            </a:pPr>
            <a:r>
              <a:rPr lang="en-US" sz="1600" dirty="0">
                <a:solidFill>
                  <a:srgbClr val="2C3E50"/>
                </a:solidFill>
                <a:latin typeface="Calibri" pitchFamily="34" charset="0"/>
                <a:ea typeface="Calibri" pitchFamily="34" charset="-122"/>
                <a:cs typeface="Calibri" pitchFamily="34" charset="-120"/>
              </a:rPr>
              <a:t>Faster than breadth-first search, if a path exists</a:t>
            </a:r>
            <a:endParaRPr lang="en-US" sz="1600" dirty="0"/>
          </a:p>
        </p:txBody>
      </p:sp>
      <p:sp>
        <p:nvSpPr>
          <p:cNvPr id="5" name="Stat 1"/>
          <p:cNvSpPr/>
          <p:nvPr/>
        </p:nvSpPr>
        <p:spPr>
          <a:xfrm>
            <a:off x="457200" y="1280160"/>
            <a:ext cx="283464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6" name="Text 4"/>
          <p:cNvSpPr txBox="1"/>
          <p:nvPr/>
        </p:nvSpPr>
        <p:spPr>
          <a:xfrm>
            <a:off x="685800" y="1463040"/>
            <a:ext cx="2377440" cy="640080"/>
          </a:xfrm>
          <a:prstGeom prst="rect">
            <a:avLst/>
          </a:prstGeom>
          <a:noFill/>
          <a:ln/>
        </p:spPr>
        <p:txBody>
          <a:bodyPr wrap="square" lIns="0" tIns="0" rIns="0" bIns="0" rtlCol="0" anchor="ctr"/>
          <a:lstStyle/>
          <a:p>
            <a:pPr marL="0" indent="0">
              <a:buNone/>
            </a:pPr>
            <a:r>
              <a:rPr lang="en-US" sz="3200" b="1" dirty="0">
                <a:solidFill>
                  <a:srgbClr val="2C3E50"/>
                </a:solidFill>
                <a:latin typeface="Cambria" pitchFamily="34" charset="0"/>
                <a:ea typeface="Cambria" pitchFamily="34" charset="-122"/>
                <a:cs typeface="Cambria" pitchFamily="34" charset="-120"/>
              </a:rPr>
              <a:t>Any path</a:t>
            </a:r>
            <a:endParaRPr lang="en-US" sz="3200" dirty="0"/>
          </a:p>
        </p:txBody>
      </p:sp>
      <p:sp>
        <p:nvSpPr>
          <p:cNvPr id="7" name="Text 5"/>
          <p:cNvSpPr txBox="1"/>
          <p:nvPr/>
        </p:nvSpPr>
        <p:spPr>
          <a:xfrm>
            <a:off x="685800" y="2148840"/>
            <a:ext cx="2377440" cy="457200"/>
          </a:xfrm>
          <a:prstGeom prst="rect">
            <a:avLst/>
          </a:prstGeom>
          <a:noFill/>
          <a:ln/>
        </p:spPr>
        <p:txBody>
          <a:bodyPr wrap="square" lIns="0" tIns="0" rIns="0" bIns="0" rtlCol="0" anchor="t"/>
          <a:lstStyle/>
          <a:p>
            <a:pPr marL="0" indent="0">
              <a:buNone/>
            </a:pPr>
            <a:r>
              <a:rPr lang="en-US" sz="1400" dirty="0">
                <a:solidFill>
                  <a:srgbClr val="566573"/>
                </a:solidFill>
                <a:latin typeface="Calibri" pitchFamily="34" charset="0"/>
                <a:ea typeface="Calibri" pitchFamily="34" charset="-122"/>
                <a:cs typeface="Calibri" pitchFamily="34" charset="-120"/>
              </a:rPr>
              <a:t>a valid route, not always the shortest</a:t>
            </a:r>
            <a:endParaRPr lang="en-US" sz="1400" dirty="0"/>
          </a:p>
        </p:txBody>
      </p:sp>
      <p:sp>
        <p:nvSpPr>
          <p:cNvPr id="8" name="Stat 2"/>
          <p:cNvSpPr/>
          <p:nvPr/>
        </p:nvSpPr>
        <p:spPr>
          <a:xfrm>
            <a:off x="457200" y="2926080"/>
            <a:ext cx="2834640" cy="1463040"/>
          </a:xfrm>
          <a:prstGeom prst="roundRect">
            <a:avLst>
              <a:gd name="adj" fmla="val 6250"/>
            </a:avLst>
          </a:prstGeom>
          <a:solidFill>
            <a:srgbClr val="FFFFFF"/>
          </a:solidFill>
          <a:ln/>
          <a:effectLst>
            <a:outerShdw blurRad="76200" dist="25400" dir="5400000" algn="bl" rotWithShape="0">
              <a:srgbClr val="000000">
                <a:alpha val="15000"/>
              </a:srgbClr>
            </a:outerShdw>
          </a:effectLst>
        </p:spPr>
      </p:sp>
      <p:sp>
        <p:nvSpPr>
          <p:cNvPr id="9" name="Text 7"/>
          <p:cNvSpPr txBox="1"/>
          <p:nvPr/>
        </p:nvSpPr>
        <p:spPr>
          <a:xfrm>
            <a:off x="685800" y="3108960"/>
            <a:ext cx="2377440" cy="640080"/>
          </a:xfrm>
          <a:prstGeom prst="rect">
            <a:avLst/>
          </a:prstGeom>
          <a:noFill/>
          <a:ln/>
        </p:spPr>
        <p:txBody>
          <a:bodyPr wrap="square" lIns="0" tIns="0" rIns="0" bIns="0" rtlCol="0" anchor="ctr"/>
          <a:lstStyle/>
          <a:p>
            <a:pPr marL="0" indent="0">
              <a:buNone/>
            </a:pPr>
            <a:r>
              <a:rPr lang="en-US" sz="3200" b="1" dirty="0">
                <a:solidFill>
                  <a:srgbClr val="2C3E50"/>
                </a:solidFill>
                <a:latin typeface="Cambria" pitchFamily="34" charset="0"/>
                <a:ea typeface="Cambria" pitchFamily="34" charset="-122"/>
                <a:cs typeface="Cambria" pitchFamily="34" charset="-120"/>
              </a:rPr>
              <a:t>O(V)</a:t>
            </a:r>
            <a:endParaRPr lang="en-US" sz="3200" dirty="0"/>
          </a:p>
        </p:txBody>
      </p:sp>
      <p:sp>
        <p:nvSpPr>
          <p:cNvPr id="10" name="Text 8"/>
          <p:cNvSpPr txBox="1"/>
          <p:nvPr/>
        </p:nvSpPr>
        <p:spPr>
          <a:xfrm>
            <a:off x="685800" y="3794760"/>
            <a:ext cx="2377440" cy="457200"/>
          </a:xfrm>
          <a:prstGeom prst="rect">
            <a:avLst/>
          </a:prstGeom>
          <a:noFill/>
          <a:ln/>
        </p:spPr>
        <p:txBody>
          <a:bodyPr wrap="square" lIns="0" tIns="0" rIns="0" bIns="0" rtlCol="0" anchor="t"/>
          <a:lstStyle/>
          <a:p>
            <a:pPr marL="0" indent="0">
              <a:buNone/>
            </a:pPr>
            <a:r>
              <a:rPr lang="en-US" sz="1400" dirty="0">
                <a:solidFill>
                  <a:srgbClr val="566573"/>
                </a:solidFill>
                <a:latin typeface="Calibri" pitchFamily="34" charset="0"/>
                <a:ea typeface="Calibri" pitchFamily="34" charset="-122"/>
                <a:cs typeface="Calibri" pitchFamily="34" charset="-120"/>
              </a:rPr>
              <a:t>time and space, V = rows × cols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Maze generation</a:t>
            </a:r>
            <a:endParaRPr lang="en-US" sz="3400" dirty="0"/>
          </a:p>
        </p:txBody>
      </p:sp>
      <p:sp>
        <p:nvSpPr>
          <p:cNvPr id="3" name="Card Recursive backtracker"/>
          <p:cNvSpPr/>
          <p:nvPr/>
        </p:nvSpPr>
        <p:spPr>
          <a:xfrm>
            <a:off x="457200" y="1280160"/>
            <a:ext cx="3977640" cy="1508760"/>
          </a:xfrm>
          <a:prstGeom prst="roundRect">
            <a:avLst>
              <a:gd name="adj" fmla="val 6061"/>
            </a:avLst>
          </a:prstGeom>
          <a:solidFill>
            <a:srgbClr val="FFFFFF"/>
          </a:solidFill>
          <a:ln/>
          <a:effectLst>
            <a:outerShdw blurRad="76200" dist="25400" dir="5400000" algn="bl" rotWithShape="0">
              <a:srgbClr val="000000">
                <a:alpha val="15000"/>
              </a:srgbClr>
            </a:outerShdw>
          </a:effectLst>
        </p:spPr>
      </p:sp>
      <p:sp>
        <p:nvSpPr>
          <p:cNvPr id="4" name="Badge 1"/>
          <p:cNvSpPr/>
          <p:nvPr/>
        </p:nvSpPr>
        <p:spPr>
          <a:xfrm>
            <a:off x="685800" y="1508760"/>
            <a:ext cx="457200" cy="457200"/>
          </a:xfrm>
          <a:prstGeom prst="ellipse">
            <a:avLst/>
          </a:prstGeom>
          <a:solidFill>
            <a:srgbClr val="5DADE2"/>
          </a:solidFill>
          <a:ln/>
        </p:spPr>
      </p:sp>
      <p:sp>
        <p:nvSpPr>
          <p:cNvPr id="5" name="Text 3"/>
          <p:cNvSpPr txBox="1"/>
          <p:nvPr/>
        </p:nvSpPr>
        <p:spPr>
          <a:xfrm>
            <a:off x="685800" y="1508760"/>
            <a:ext cx="457200" cy="457200"/>
          </a:xfrm>
          <a:prstGeom prst="rect">
            <a:avLst/>
          </a:prstGeom>
          <a:noFill/>
          <a:ln/>
        </p:spPr>
        <p:txBody>
          <a:bodyPr wrap="square" lIns="0" tIns="0" rIns="0" bIns="0" rtlCol="0" anchor="ctr"/>
          <a:lstStyle/>
          <a:p>
            <a:pPr marL="0" indent="0" algn="ctr">
              <a:buNone/>
            </a:pPr>
            <a:r>
              <a:rPr lang="en-US" sz="1600" b="1" dirty="0">
                <a:solidFill>
                  <a:srgbClr val="2C3E50"/>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325880" y="1463040"/>
            <a:ext cx="2926080" cy="365760"/>
          </a:xfrm>
          <a:prstGeom prst="rect">
            <a:avLst/>
          </a:prstGeom>
          <a:noFill/>
          <a:ln/>
        </p:spPr>
        <p:txBody>
          <a:bodyPr wrap="square" lIns="0" tIns="0" rIns="0" bIns="0" rtlCol="0" anchor="t"/>
          <a:lstStyle/>
          <a:p>
            <a:pPr marL="0" indent="0">
              <a:buNone/>
            </a:pPr>
            <a:r>
              <a:rPr lang="en-US" sz="1800" b="1" dirty="0">
                <a:solidFill>
                  <a:srgbClr val="2C3E50"/>
                </a:solidFill>
                <a:latin typeface="Cambria" pitchFamily="34" charset="0"/>
                <a:ea typeface="Cambria" pitchFamily="34" charset="-122"/>
                <a:cs typeface="Cambria" pitchFamily="34" charset="-120"/>
              </a:rPr>
              <a:t>Recursive backtracker</a:t>
            </a:r>
            <a:endParaRPr lang="en-US" sz="1800" dirty="0"/>
          </a:p>
        </p:txBody>
      </p:sp>
      <p:sp>
        <p:nvSpPr>
          <p:cNvPr id="7" name="Text 5"/>
          <p:cNvSpPr txBox="1"/>
          <p:nvPr/>
        </p:nvSpPr>
        <p:spPr>
          <a:xfrm>
            <a:off x="1325880" y="1901952"/>
            <a:ext cx="2926080" cy="82296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A stack-based DFS jumps two cells at a time and removes the wall between them.</a:t>
            </a:r>
            <a:endParaRPr lang="en-US" sz="1400" dirty="0"/>
          </a:p>
        </p:txBody>
      </p:sp>
      <p:sp>
        <p:nvSpPr>
          <p:cNvPr id="8" name="Card Perfect maze"/>
          <p:cNvSpPr/>
          <p:nvPr/>
        </p:nvSpPr>
        <p:spPr>
          <a:xfrm>
            <a:off x="4709160" y="1280160"/>
            <a:ext cx="3977640" cy="1508760"/>
          </a:xfrm>
          <a:prstGeom prst="roundRect">
            <a:avLst>
              <a:gd name="adj" fmla="val 6061"/>
            </a:avLst>
          </a:prstGeom>
          <a:solidFill>
            <a:srgbClr val="FFFFFF"/>
          </a:solidFill>
          <a:ln/>
          <a:effectLst>
            <a:outerShdw blurRad="76200" dist="25400" dir="5400000" algn="bl" rotWithShape="0">
              <a:srgbClr val="000000">
                <a:alpha val="15000"/>
              </a:srgbClr>
            </a:outerShdw>
          </a:effectLst>
        </p:spPr>
      </p:sp>
      <p:sp>
        <p:nvSpPr>
          <p:cNvPr id="9" name="Badge 2"/>
          <p:cNvSpPr/>
          <p:nvPr/>
        </p:nvSpPr>
        <p:spPr>
          <a:xfrm>
            <a:off x="4937760" y="1508760"/>
            <a:ext cx="457200" cy="457200"/>
          </a:xfrm>
          <a:prstGeom prst="ellipse">
            <a:avLst/>
          </a:prstGeom>
          <a:solidFill>
            <a:srgbClr val="5DADE2"/>
          </a:solidFill>
          <a:ln/>
        </p:spPr>
      </p:sp>
      <p:sp>
        <p:nvSpPr>
          <p:cNvPr id="10" name="Text 8"/>
          <p:cNvSpPr txBox="1"/>
          <p:nvPr/>
        </p:nvSpPr>
        <p:spPr>
          <a:xfrm>
            <a:off x="4937760" y="1508760"/>
            <a:ext cx="457200" cy="457200"/>
          </a:xfrm>
          <a:prstGeom prst="rect">
            <a:avLst/>
          </a:prstGeom>
          <a:noFill/>
          <a:ln/>
        </p:spPr>
        <p:txBody>
          <a:bodyPr wrap="square" lIns="0" tIns="0" rIns="0" bIns="0" rtlCol="0" anchor="ctr"/>
          <a:lstStyle/>
          <a:p>
            <a:pPr marL="0" indent="0" algn="ctr">
              <a:buNone/>
            </a:pPr>
            <a:r>
              <a:rPr lang="en-US" sz="1600" b="1" dirty="0">
                <a:solidFill>
                  <a:srgbClr val="2C3E50"/>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5577840" y="1463040"/>
            <a:ext cx="2926080" cy="365760"/>
          </a:xfrm>
          <a:prstGeom prst="rect">
            <a:avLst/>
          </a:prstGeom>
          <a:noFill/>
          <a:ln/>
        </p:spPr>
        <p:txBody>
          <a:bodyPr wrap="square" lIns="0" tIns="0" rIns="0" bIns="0" rtlCol="0" anchor="t"/>
          <a:lstStyle/>
          <a:p>
            <a:pPr marL="0" indent="0">
              <a:buNone/>
            </a:pPr>
            <a:r>
              <a:rPr lang="en-US" sz="1800" b="1" dirty="0">
                <a:solidFill>
                  <a:srgbClr val="2C3E50"/>
                </a:solidFill>
                <a:latin typeface="Cambria" pitchFamily="34" charset="0"/>
                <a:ea typeface="Cambria" pitchFamily="34" charset="-122"/>
                <a:cs typeface="Cambria" pitchFamily="34" charset="-120"/>
              </a:rPr>
              <a:t>Perfect maze</a:t>
            </a:r>
            <a:endParaRPr lang="en-US" sz="1800" dirty="0"/>
          </a:p>
        </p:txBody>
      </p:sp>
      <p:sp>
        <p:nvSpPr>
          <p:cNvPr id="12" name="Text 10"/>
          <p:cNvSpPr txBox="1"/>
          <p:nvPr/>
        </p:nvSpPr>
        <p:spPr>
          <a:xfrm>
            <a:off x="5577840" y="1901952"/>
            <a:ext cx="2926080" cy="82296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Odd sizes keep walls on even rows and columns. Exactly one route joins any two cells.</a:t>
            </a:r>
            <a:endParaRPr lang="en-US" sz="1400" dirty="0"/>
          </a:p>
        </p:txBody>
      </p:sp>
      <p:sp>
        <p:nvSpPr>
          <p:cNvPr id="13" name="Card Optional loops"/>
          <p:cNvSpPr/>
          <p:nvPr/>
        </p:nvSpPr>
        <p:spPr>
          <a:xfrm>
            <a:off x="457200" y="2971800"/>
            <a:ext cx="3977640" cy="1508760"/>
          </a:xfrm>
          <a:prstGeom prst="roundRect">
            <a:avLst>
              <a:gd name="adj" fmla="val 6061"/>
            </a:avLst>
          </a:prstGeom>
          <a:solidFill>
            <a:srgbClr val="FFFFFF"/>
          </a:solidFill>
          <a:ln/>
          <a:effectLst>
            <a:outerShdw blurRad="76200" dist="25400" dir="5400000" algn="bl" rotWithShape="0">
              <a:srgbClr val="000000">
                <a:alpha val="15000"/>
              </a:srgbClr>
            </a:outerShdw>
          </a:effectLst>
        </p:spPr>
      </p:sp>
      <p:sp>
        <p:nvSpPr>
          <p:cNvPr id="14" name="Badge 3"/>
          <p:cNvSpPr/>
          <p:nvPr/>
        </p:nvSpPr>
        <p:spPr>
          <a:xfrm>
            <a:off x="685800" y="3200400"/>
            <a:ext cx="457200" cy="457200"/>
          </a:xfrm>
          <a:prstGeom prst="ellipse">
            <a:avLst/>
          </a:prstGeom>
          <a:solidFill>
            <a:srgbClr val="5DADE2"/>
          </a:solidFill>
          <a:ln/>
        </p:spPr>
      </p:sp>
      <p:sp>
        <p:nvSpPr>
          <p:cNvPr id="15" name="Text 13"/>
          <p:cNvSpPr txBox="1"/>
          <p:nvPr/>
        </p:nvSpPr>
        <p:spPr>
          <a:xfrm>
            <a:off x="685800" y="3200400"/>
            <a:ext cx="457200" cy="457200"/>
          </a:xfrm>
          <a:prstGeom prst="rect">
            <a:avLst/>
          </a:prstGeom>
          <a:noFill/>
          <a:ln/>
        </p:spPr>
        <p:txBody>
          <a:bodyPr wrap="square" lIns="0" tIns="0" rIns="0" bIns="0" rtlCol="0" anchor="ctr"/>
          <a:lstStyle/>
          <a:p>
            <a:pPr marL="0" indent="0" algn="ctr">
              <a:buNone/>
            </a:pPr>
            <a:r>
              <a:rPr lang="en-US" sz="1600" b="1" dirty="0">
                <a:solidFill>
                  <a:srgbClr val="2C3E50"/>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325880" y="3154680"/>
            <a:ext cx="2926080" cy="365760"/>
          </a:xfrm>
          <a:prstGeom prst="rect">
            <a:avLst/>
          </a:prstGeom>
          <a:noFill/>
          <a:ln/>
        </p:spPr>
        <p:txBody>
          <a:bodyPr wrap="square" lIns="0" tIns="0" rIns="0" bIns="0" rtlCol="0" anchor="t"/>
          <a:lstStyle/>
          <a:p>
            <a:pPr marL="0" indent="0">
              <a:buNone/>
            </a:pPr>
            <a:r>
              <a:rPr lang="en-US" sz="1800" b="1" dirty="0">
                <a:solidFill>
                  <a:srgbClr val="2C3E50"/>
                </a:solidFill>
                <a:latin typeface="Cambria" pitchFamily="34" charset="0"/>
                <a:ea typeface="Cambria" pitchFamily="34" charset="-122"/>
                <a:cs typeface="Cambria" pitchFamily="34" charset="-120"/>
              </a:rPr>
              <a:t>Optional loops</a:t>
            </a:r>
            <a:endParaRPr lang="en-US" sz="1800" dirty="0"/>
          </a:p>
        </p:txBody>
      </p:sp>
      <p:sp>
        <p:nvSpPr>
          <p:cNvPr id="17" name="Text 15"/>
          <p:cNvSpPr txBox="1"/>
          <p:nvPr/>
        </p:nvSpPr>
        <p:spPr>
          <a:xfrm>
            <a:off x="1325880" y="3593592"/>
            <a:ext cx="2926080" cy="82296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addLoops removes about 5% of inner walls, so BFS and DFS can return different paths.</a:t>
            </a:r>
            <a:endParaRPr lang="en-US" sz="1400" dirty="0"/>
          </a:p>
        </p:txBody>
      </p:sp>
      <p:sp>
        <p:nvSpPr>
          <p:cNvPr id="18" name="Card Reproducible"/>
          <p:cNvSpPr/>
          <p:nvPr/>
        </p:nvSpPr>
        <p:spPr>
          <a:xfrm>
            <a:off x="4709160" y="2971800"/>
            <a:ext cx="3977640" cy="1508760"/>
          </a:xfrm>
          <a:prstGeom prst="roundRect">
            <a:avLst>
              <a:gd name="adj" fmla="val 6061"/>
            </a:avLst>
          </a:prstGeom>
          <a:solidFill>
            <a:srgbClr val="FFFFFF"/>
          </a:solidFill>
          <a:ln/>
          <a:effectLst>
            <a:outerShdw blurRad="76200" dist="25400" dir="5400000" algn="bl" rotWithShape="0">
              <a:srgbClr val="000000">
                <a:alpha val="15000"/>
              </a:srgbClr>
            </a:outerShdw>
          </a:effectLst>
        </p:spPr>
      </p:sp>
      <p:sp>
        <p:nvSpPr>
          <p:cNvPr id="19" name="Badge 4"/>
          <p:cNvSpPr/>
          <p:nvPr/>
        </p:nvSpPr>
        <p:spPr>
          <a:xfrm>
            <a:off x="4937760" y="3200400"/>
            <a:ext cx="457200" cy="457200"/>
          </a:xfrm>
          <a:prstGeom prst="ellipse">
            <a:avLst/>
          </a:prstGeom>
          <a:solidFill>
            <a:srgbClr val="5DADE2"/>
          </a:solidFill>
          <a:ln/>
        </p:spPr>
      </p:sp>
      <p:sp>
        <p:nvSpPr>
          <p:cNvPr id="20" name="Text 18"/>
          <p:cNvSpPr txBox="1"/>
          <p:nvPr/>
        </p:nvSpPr>
        <p:spPr>
          <a:xfrm>
            <a:off x="4937760" y="3200400"/>
            <a:ext cx="457200" cy="457200"/>
          </a:xfrm>
          <a:prstGeom prst="rect">
            <a:avLst/>
          </a:prstGeom>
          <a:noFill/>
          <a:ln/>
        </p:spPr>
        <p:txBody>
          <a:bodyPr wrap="square" lIns="0" tIns="0" rIns="0" bIns="0" rtlCol="0" anchor="ctr"/>
          <a:lstStyle/>
          <a:p>
            <a:pPr marL="0" indent="0" algn="ctr">
              <a:buNone/>
            </a:pPr>
            <a:r>
              <a:rPr lang="en-US" sz="1600" b="1" dirty="0">
                <a:solidFill>
                  <a:srgbClr val="2C3E50"/>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5577840" y="3154680"/>
            <a:ext cx="2926080" cy="365760"/>
          </a:xfrm>
          <a:prstGeom prst="rect">
            <a:avLst/>
          </a:prstGeom>
          <a:noFill/>
          <a:ln/>
        </p:spPr>
        <p:txBody>
          <a:bodyPr wrap="square" lIns="0" tIns="0" rIns="0" bIns="0" rtlCol="0" anchor="t"/>
          <a:lstStyle/>
          <a:p>
            <a:pPr marL="0" indent="0">
              <a:buNone/>
            </a:pPr>
            <a:r>
              <a:rPr lang="en-US" sz="1800" b="1" dirty="0">
                <a:solidFill>
                  <a:srgbClr val="2C3E50"/>
                </a:solidFill>
                <a:latin typeface="Cambria" pitchFamily="34" charset="0"/>
                <a:ea typeface="Cambria" pitchFamily="34" charset="-122"/>
                <a:cs typeface="Cambria" pitchFamily="34" charset="-120"/>
              </a:rPr>
              <a:t>Reproducible</a:t>
            </a:r>
            <a:endParaRPr lang="en-US" sz="1800" dirty="0"/>
          </a:p>
        </p:txBody>
      </p:sp>
      <p:sp>
        <p:nvSpPr>
          <p:cNvPr id="22" name="Text 20"/>
          <p:cNvSpPr txBox="1"/>
          <p:nvPr/>
        </p:nvSpPr>
        <p:spPr>
          <a:xfrm>
            <a:off x="5577840" y="3593592"/>
            <a:ext cx="2926080" cy="822960"/>
          </a:xfrm>
          <a:prstGeom prst="rect">
            <a:avLst/>
          </a:prstGeom>
          <a:noFill/>
          <a:ln/>
        </p:spPr>
        <p:txBody>
          <a:bodyPr wrap="square" lIns="0" tIns="0" rIns="0" bIns="0" rtlCol="0" anchor="t"/>
          <a:lstStyle/>
          <a:p>
            <a:pPr marL="0" indent="0">
              <a:buNone/>
            </a:pPr>
            <a:r>
              <a:rPr lang="en-US" sz="1400" dirty="0">
                <a:solidFill>
                  <a:srgbClr val="2C3E50"/>
                </a:solidFill>
                <a:latin typeface="Calibri" pitchFamily="34" charset="0"/>
                <a:ea typeface="Calibri" pitchFamily="34" charset="-122"/>
                <a:cs typeface="Calibri" pitchFamily="34" charset="-120"/>
              </a:rPr>
              <a:t>A seed drives std::mt19937, so the same seed always rebuilds the same maze.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Result: BFS on seed 42</a:t>
            </a:r>
            <a:endParaRPr lang="en-US" sz="3400" dirty="0"/>
          </a:p>
        </p:txBody>
      </p:sp>
      <p:pic>
        <p:nvPicPr>
          <p:cNvPr id="3" name="Image 0" descr="Maze with BFS explored cells in blue and the shortest path in yellow"/>
          <p:cNvPicPr>
            <a:picLocks noChangeAspect="1"/>
          </p:cNvPicPr>
          <p:nvPr/>
        </p:nvPicPr>
        <p:blipFill>
          <a:blip r:embed="rId3"/>
          <a:stretch>
            <a:fillRect/>
          </a:stretch>
        </p:blipFill>
        <p:spPr>
          <a:xfrm>
            <a:off x="457200" y="1188720"/>
            <a:ext cx="5486400" cy="2980944"/>
          </a:xfrm>
          <a:prstGeom prst="rect">
            <a:avLst/>
          </a:prstGeom>
        </p:spPr>
      </p:pic>
      <p:sp>
        <p:nvSpPr>
          <p:cNvPr id="4" name="Text 1"/>
          <p:cNvSpPr txBox="1"/>
          <p:nvPr/>
        </p:nvSpPr>
        <p:spPr>
          <a:xfrm>
            <a:off x="457200" y="4251960"/>
            <a:ext cx="5486400" cy="274320"/>
          </a:xfrm>
          <a:prstGeom prst="rect">
            <a:avLst/>
          </a:prstGeom>
          <a:noFill/>
          <a:ln/>
        </p:spPr>
        <p:txBody>
          <a:bodyPr wrap="square" lIns="0" tIns="0" rIns="0" bIns="0" rtlCol="0" anchor="t"/>
          <a:lstStyle/>
          <a:p>
            <a:pPr marL="0" indent="0">
              <a:buNone/>
            </a:pPr>
            <a:r>
              <a:rPr lang="en-US" sz="1100" dirty="0">
                <a:solidFill>
                  <a:srgbClr val="566573"/>
                </a:solidFill>
                <a:latin typeface="Calibri" pitchFamily="34" charset="0"/>
                <a:ea typeface="Calibri" pitchFamily="34" charset="-122"/>
                <a:cs typeface="Calibri" pitchFamily="34" charset="-120"/>
              </a:rPr>
              <a:t>BFS on a 21 × 41 maze: explored cells in blue, final path in yellow</a:t>
            </a:r>
            <a:endParaRPr lang="en-US" sz="1100" dirty="0"/>
          </a:p>
        </p:txBody>
      </p:sp>
      <p:sp>
        <p:nvSpPr>
          <p:cNvPr id="5" name="Text 2"/>
          <p:cNvSpPr txBox="1"/>
          <p:nvPr/>
        </p:nvSpPr>
        <p:spPr>
          <a:xfrm>
            <a:off x="6309360" y="1188720"/>
            <a:ext cx="2377440" cy="548640"/>
          </a:xfrm>
          <a:prstGeom prst="rect">
            <a:avLst/>
          </a:prstGeom>
          <a:noFill/>
          <a:ln/>
        </p:spPr>
        <p:txBody>
          <a:bodyPr wrap="square" lIns="0" tIns="0" rIns="0" bIns="0" rtlCol="0" anchor="ctr"/>
          <a:lstStyle/>
          <a:p>
            <a:pPr marL="0" indent="0">
              <a:buNone/>
            </a:pPr>
            <a:r>
              <a:rPr lang="en-US" sz="3600" b="1" dirty="0">
                <a:solidFill>
                  <a:srgbClr val="2C3E50"/>
                </a:solidFill>
                <a:latin typeface="Cambria" pitchFamily="34" charset="0"/>
                <a:ea typeface="Cambria" pitchFamily="34" charset="-122"/>
                <a:cs typeface="Cambria" pitchFamily="34" charset="-120"/>
              </a:rPr>
              <a:t>343</a:t>
            </a:r>
            <a:endParaRPr lang="en-US" sz="3600" dirty="0"/>
          </a:p>
        </p:txBody>
      </p:sp>
      <p:sp>
        <p:nvSpPr>
          <p:cNvPr id="6" name="Text 3"/>
          <p:cNvSpPr txBox="1"/>
          <p:nvPr/>
        </p:nvSpPr>
        <p:spPr>
          <a:xfrm>
            <a:off x="6309360" y="1737360"/>
            <a:ext cx="2377440" cy="274320"/>
          </a:xfrm>
          <a:prstGeom prst="rect">
            <a:avLst/>
          </a:prstGeom>
          <a:noFill/>
          <a:ln/>
        </p:spPr>
        <p:txBody>
          <a:bodyPr wrap="square" lIns="0" tIns="0" rIns="0" bIns="0" rtlCol="0" anchor="t"/>
          <a:lstStyle/>
          <a:p>
            <a:pPr marL="0" indent="0">
              <a:buNone/>
            </a:pPr>
            <a:r>
              <a:rPr lang="en-US" sz="1400" dirty="0">
                <a:solidFill>
                  <a:srgbClr val="566573"/>
                </a:solidFill>
                <a:latin typeface="Calibri" pitchFamily="34" charset="0"/>
                <a:ea typeface="Calibri" pitchFamily="34" charset="-122"/>
                <a:cs typeface="Calibri" pitchFamily="34" charset="-120"/>
              </a:rPr>
              <a:t>cells explored</a:t>
            </a:r>
            <a:endParaRPr lang="en-US" sz="1400" dirty="0"/>
          </a:p>
        </p:txBody>
      </p:sp>
      <p:sp>
        <p:nvSpPr>
          <p:cNvPr id="7" name="Text 4"/>
          <p:cNvSpPr txBox="1"/>
          <p:nvPr/>
        </p:nvSpPr>
        <p:spPr>
          <a:xfrm>
            <a:off x="6309360" y="2194560"/>
            <a:ext cx="2377440" cy="548640"/>
          </a:xfrm>
          <a:prstGeom prst="rect">
            <a:avLst/>
          </a:prstGeom>
          <a:noFill/>
          <a:ln/>
        </p:spPr>
        <p:txBody>
          <a:bodyPr wrap="square" lIns="0" tIns="0" rIns="0" bIns="0" rtlCol="0" anchor="ctr"/>
          <a:lstStyle/>
          <a:p>
            <a:pPr marL="0" indent="0">
              <a:buNone/>
            </a:pPr>
            <a:r>
              <a:rPr lang="en-US" sz="3600" b="1" dirty="0">
                <a:solidFill>
                  <a:srgbClr val="2C3E50"/>
                </a:solidFill>
                <a:latin typeface="Cambria" pitchFamily="34" charset="0"/>
                <a:ea typeface="Cambria" pitchFamily="34" charset="-122"/>
                <a:cs typeface="Cambria" pitchFamily="34" charset="-120"/>
              </a:rPr>
              <a:t>73</a:t>
            </a:r>
            <a:endParaRPr lang="en-US" sz="3600" dirty="0"/>
          </a:p>
        </p:txBody>
      </p:sp>
      <p:sp>
        <p:nvSpPr>
          <p:cNvPr id="8" name="Text 5"/>
          <p:cNvSpPr txBox="1"/>
          <p:nvPr/>
        </p:nvSpPr>
        <p:spPr>
          <a:xfrm>
            <a:off x="6309360" y="2743200"/>
            <a:ext cx="2377440" cy="274320"/>
          </a:xfrm>
          <a:prstGeom prst="rect">
            <a:avLst/>
          </a:prstGeom>
          <a:noFill/>
          <a:ln/>
        </p:spPr>
        <p:txBody>
          <a:bodyPr wrap="square" lIns="0" tIns="0" rIns="0" bIns="0" rtlCol="0" anchor="t"/>
          <a:lstStyle/>
          <a:p>
            <a:pPr marL="0" indent="0">
              <a:buNone/>
            </a:pPr>
            <a:r>
              <a:rPr lang="en-US" sz="1400" dirty="0">
                <a:solidFill>
                  <a:srgbClr val="566573"/>
                </a:solidFill>
                <a:latin typeface="Calibri" pitchFamily="34" charset="0"/>
                <a:ea typeface="Calibri" pitchFamily="34" charset="-122"/>
                <a:cs typeface="Calibri" pitchFamily="34" charset="-120"/>
              </a:rPr>
              <a:t>cells in the path</a:t>
            </a:r>
            <a:endParaRPr lang="en-US" sz="1400" dirty="0"/>
          </a:p>
        </p:txBody>
      </p:sp>
      <p:sp>
        <p:nvSpPr>
          <p:cNvPr id="9" name="Legend Start"/>
          <p:cNvSpPr/>
          <p:nvPr/>
        </p:nvSpPr>
        <p:spPr>
          <a:xfrm>
            <a:off x="6309360" y="3227832"/>
            <a:ext cx="182880" cy="182880"/>
          </a:xfrm>
          <a:prstGeom prst="rect">
            <a:avLst/>
          </a:prstGeom>
          <a:solidFill>
            <a:srgbClr val="2ECC71"/>
          </a:solidFill>
          <a:ln/>
        </p:spPr>
      </p:sp>
      <p:sp>
        <p:nvSpPr>
          <p:cNvPr id="10" name="Text 7"/>
          <p:cNvSpPr txBox="1"/>
          <p:nvPr/>
        </p:nvSpPr>
        <p:spPr>
          <a:xfrm>
            <a:off x="6629400" y="3200400"/>
            <a:ext cx="2011680" cy="237744"/>
          </a:xfrm>
          <a:prstGeom prst="rect">
            <a:avLst/>
          </a:prstGeom>
          <a:noFill/>
          <a:ln/>
        </p:spPr>
        <p:txBody>
          <a:bodyPr wrap="square" lIns="0" tIns="0" rIns="0" bIns="0" rtlCol="0" anchor="t"/>
          <a:lstStyle/>
          <a:p>
            <a:pPr marL="0" indent="0">
              <a:buNone/>
            </a:pPr>
            <a:r>
              <a:rPr lang="en-US" sz="1200" dirty="0">
                <a:solidFill>
                  <a:srgbClr val="2C3E50"/>
                </a:solidFill>
                <a:latin typeface="Calibri" pitchFamily="34" charset="0"/>
                <a:ea typeface="Calibri" pitchFamily="34" charset="-122"/>
                <a:cs typeface="Calibri" pitchFamily="34" charset="-120"/>
              </a:rPr>
              <a:t>Start</a:t>
            </a:r>
            <a:endParaRPr lang="en-US" sz="1200" dirty="0"/>
          </a:p>
        </p:txBody>
      </p:sp>
      <p:sp>
        <p:nvSpPr>
          <p:cNvPr id="11" name="Legend Goal"/>
          <p:cNvSpPr/>
          <p:nvPr/>
        </p:nvSpPr>
        <p:spPr>
          <a:xfrm>
            <a:off x="6309360" y="3502152"/>
            <a:ext cx="182880" cy="182880"/>
          </a:xfrm>
          <a:prstGeom prst="rect">
            <a:avLst/>
          </a:prstGeom>
          <a:solidFill>
            <a:srgbClr val="E74C3C"/>
          </a:solidFill>
          <a:ln/>
        </p:spPr>
      </p:sp>
      <p:sp>
        <p:nvSpPr>
          <p:cNvPr id="12" name="Text 9"/>
          <p:cNvSpPr txBox="1"/>
          <p:nvPr/>
        </p:nvSpPr>
        <p:spPr>
          <a:xfrm>
            <a:off x="6629400" y="3474720"/>
            <a:ext cx="2011680" cy="237744"/>
          </a:xfrm>
          <a:prstGeom prst="rect">
            <a:avLst/>
          </a:prstGeom>
          <a:noFill/>
          <a:ln/>
        </p:spPr>
        <p:txBody>
          <a:bodyPr wrap="square" lIns="0" tIns="0" rIns="0" bIns="0" rtlCol="0" anchor="t"/>
          <a:lstStyle/>
          <a:p>
            <a:pPr marL="0" indent="0">
              <a:buNone/>
            </a:pPr>
            <a:r>
              <a:rPr lang="en-US" sz="1200" dirty="0">
                <a:solidFill>
                  <a:srgbClr val="2C3E50"/>
                </a:solidFill>
                <a:latin typeface="Calibri" pitchFamily="34" charset="0"/>
                <a:ea typeface="Calibri" pitchFamily="34" charset="-122"/>
                <a:cs typeface="Calibri" pitchFamily="34" charset="-120"/>
              </a:rPr>
              <a:t>Goal</a:t>
            </a:r>
            <a:endParaRPr lang="en-US" sz="1200" dirty="0"/>
          </a:p>
        </p:txBody>
      </p:sp>
      <p:sp>
        <p:nvSpPr>
          <p:cNvPr id="13" name="Legend Explored"/>
          <p:cNvSpPr/>
          <p:nvPr/>
        </p:nvSpPr>
        <p:spPr>
          <a:xfrm>
            <a:off x="6309360" y="3776472"/>
            <a:ext cx="182880" cy="182880"/>
          </a:xfrm>
          <a:prstGeom prst="rect">
            <a:avLst/>
          </a:prstGeom>
          <a:solidFill>
            <a:srgbClr val="5DADE2"/>
          </a:solidFill>
          <a:ln/>
        </p:spPr>
      </p:sp>
      <p:sp>
        <p:nvSpPr>
          <p:cNvPr id="14" name="Text 11"/>
          <p:cNvSpPr txBox="1"/>
          <p:nvPr/>
        </p:nvSpPr>
        <p:spPr>
          <a:xfrm>
            <a:off x="6629400" y="3749040"/>
            <a:ext cx="2011680" cy="237744"/>
          </a:xfrm>
          <a:prstGeom prst="rect">
            <a:avLst/>
          </a:prstGeom>
          <a:noFill/>
          <a:ln/>
        </p:spPr>
        <p:txBody>
          <a:bodyPr wrap="square" lIns="0" tIns="0" rIns="0" bIns="0" rtlCol="0" anchor="t"/>
          <a:lstStyle/>
          <a:p>
            <a:pPr marL="0" indent="0">
              <a:buNone/>
            </a:pPr>
            <a:r>
              <a:rPr lang="en-US" sz="1200" dirty="0">
                <a:solidFill>
                  <a:srgbClr val="2C3E50"/>
                </a:solidFill>
                <a:latin typeface="Calibri" pitchFamily="34" charset="0"/>
                <a:ea typeface="Calibri" pitchFamily="34" charset="-122"/>
                <a:cs typeface="Calibri" pitchFamily="34" charset="-120"/>
              </a:rPr>
              <a:t>Explored</a:t>
            </a:r>
            <a:endParaRPr lang="en-US" sz="1200" dirty="0"/>
          </a:p>
        </p:txBody>
      </p:sp>
      <p:sp>
        <p:nvSpPr>
          <p:cNvPr id="15" name="Legend Final path"/>
          <p:cNvSpPr/>
          <p:nvPr/>
        </p:nvSpPr>
        <p:spPr>
          <a:xfrm>
            <a:off x="6309360" y="4050792"/>
            <a:ext cx="182880" cy="182880"/>
          </a:xfrm>
          <a:prstGeom prst="rect">
            <a:avLst/>
          </a:prstGeom>
          <a:solidFill>
            <a:srgbClr val="F1C40F"/>
          </a:solidFill>
          <a:ln/>
        </p:spPr>
      </p:sp>
      <p:sp>
        <p:nvSpPr>
          <p:cNvPr id="16" name="Text 13"/>
          <p:cNvSpPr txBox="1"/>
          <p:nvPr/>
        </p:nvSpPr>
        <p:spPr>
          <a:xfrm>
            <a:off x="6629400" y="4023360"/>
            <a:ext cx="2011680" cy="237744"/>
          </a:xfrm>
          <a:prstGeom prst="rect">
            <a:avLst/>
          </a:prstGeom>
          <a:noFill/>
          <a:ln/>
        </p:spPr>
        <p:txBody>
          <a:bodyPr wrap="square" lIns="0" tIns="0" rIns="0" bIns="0" rtlCol="0" anchor="t"/>
          <a:lstStyle/>
          <a:p>
            <a:pPr marL="0" indent="0">
              <a:buNone/>
            </a:pPr>
            <a:r>
              <a:rPr lang="en-US" sz="1200" dirty="0">
                <a:solidFill>
                  <a:srgbClr val="2C3E50"/>
                </a:solidFill>
                <a:latin typeface="Calibri" pitchFamily="34" charset="0"/>
                <a:ea typeface="Calibri" pitchFamily="34" charset="-122"/>
                <a:cs typeface="Calibri" pitchFamily="34" charset="-120"/>
              </a:rPr>
              <a:t>Final path</a:t>
            </a:r>
            <a:endParaRPr lang="en-US" sz="1200" dirty="0"/>
          </a:p>
        </p:txBody>
      </p:sp>
      <p:sp>
        <p:nvSpPr>
          <p:cNvPr id="17" name="Legend Wall"/>
          <p:cNvSpPr/>
          <p:nvPr/>
        </p:nvSpPr>
        <p:spPr>
          <a:xfrm>
            <a:off x="6309360" y="4325112"/>
            <a:ext cx="182880" cy="182880"/>
          </a:xfrm>
          <a:prstGeom prst="rect">
            <a:avLst/>
          </a:prstGeom>
          <a:solidFill>
            <a:srgbClr val="3D566E"/>
          </a:solidFill>
          <a:ln/>
        </p:spPr>
      </p:sp>
      <p:sp>
        <p:nvSpPr>
          <p:cNvPr id="18" name="Text 15"/>
          <p:cNvSpPr txBox="1"/>
          <p:nvPr/>
        </p:nvSpPr>
        <p:spPr>
          <a:xfrm>
            <a:off x="6629400" y="4297680"/>
            <a:ext cx="2011680" cy="237744"/>
          </a:xfrm>
          <a:prstGeom prst="rect">
            <a:avLst/>
          </a:prstGeom>
          <a:noFill/>
          <a:ln/>
        </p:spPr>
        <p:txBody>
          <a:bodyPr wrap="square" lIns="0" tIns="0" rIns="0" bIns="0" rtlCol="0" anchor="t"/>
          <a:lstStyle/>
          <a:p>
            <a:pPr marL="0" indent="0">
              <a:buNone/>
            </a:pPr>
            <a:r>
              <a:rPr lang="en-US" sz="1200" dirty="0">
                <a:solidFill>
                  <a:srgbClr val="2C3E50"/>
                </a:solidFill>
                <a:latin typeface="Calibri" pitchFamily="34" charset="0"/>
                <a:ea typeface="Calibri" pitchFamily="34" charset="-122"/>
                <a:cs typeface="Calibri" pitchFamily="34" charset="-120"/>
              </a:rPr>
              <a:t>Wall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BFS and DFS compared</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21945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57200">
                <a:tc>
                  <a:txBody>
                    <a:bodyPr/>
                    <a:lstStyle/>
                    <a:p>
                      <a:pPr marL="0" indent="0">
                        <a:buNone/>
                      </a:pP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2C3E5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BFS</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2C3E5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DFS</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2C3E50"/>
                          </a:solidFill>
                          <a:latin typeface="Calibri" pitchFamily="34" charset="0"/>
                          <a:ea typeface="Calibri" pitchFamily="34" charset="-122"/>
                          <a:cs typeface="Calibri" pitchFamily="34" charset="-120"/>
                        </a:rPr>
                        <a:t>Data structure</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F0F1"/>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Queue</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Stack</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2C3E50"/>
                          </a:solidFill>
                          <a:latin typeface="Calibri" pitchFamily="34" charset="0"/>
                          <a:ea typeface="Calibri" pitchFamily="34" charset="-122"/>
                          <a:cs typeface="Calibri" pitchFamily="34" charset="-120"/>
                        </a:rPr>
                        <a:t>Explores</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F0F1"/>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In rings around the start</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One corridor at a time</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2C3E50"/>
                          </a:solidFill>
                          <a:latin typeface="Calibri" pitchFamily="34" charset="0"/>
                          <a:ea typeface="Calibri" pitchFamily="34" charset="-122"/>
                          <a:cs typeface="Calibri" pitchFamily="34" charset="-120"/>
                        </a:rPr>
                        <a:t>Path found</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F0F1"/>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Always a shortest path</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Valid, not always shortest</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2C3E50"/>
                          </a:solidFill>
                          <a:latin typeface="Calibri" pitchFamily="34" charset="0"/>
                          <a:ea typeface="Calibri" pitchFamily="34" charset="-122"/>
                          <a:cs typeface="Calibri" pitchFamily="34" charset="-120"/>
                        </a:rPr>
                        <a:t>Time</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F0F1"/>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O(V)</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O(V)</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400" b="1" dirty="0">
                          <a:solidFill>
                            <a:srgbClr val="2C3E50"/>
                          </a:solidFill>
                          <a:latin typeface="Calibri" pitchFamily="34" charset="0"/>
                          <a:ea typeface="Calibri" pitchFamily="34" charset="-122"/>
                          <a:cs typeface="Calibri" pitchFamily="34" charset="-120"/>
                        </a:rPr>
                        <a:t>Space</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F0F1"/>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O(V)</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marL="0" indent="0">
                        <a:buNone/>
                      </a:pPr>
                      <a:r>
                        <a:rPr lang="en-US" sz="1400" dirty="0">
                          <a:solidFill>
                            <a:srgbClr val="2C3E50"/>
                          </a:solidFill>
                          <a:latin typeface="Calibri" pitchFamily="34" charset="0"/>
                          <a:ea typeface="Calibri" pitchFamily="34" charset="-122"/>
                          <a:cs typeface="Calibri" pitchFamily="34" charset="-120"/>
                        </a:rPr>
                        <a:t>O(V)</a:t>
                      </a:r>
                      <a:endParaRPr lang="en-US" sz="1400" dirty="0">
                        <a:latin typeface="Calibri" charset="0"/>
                        <a:ea typeface="Calibri" charset="0"/>
                        <a:cs typeface="Calibri" charset="0"/>
                      </a:endParaRPr>
                    </a:p>
                  </a:txBody>
                  <a:tcPr marL="109728" marR="109728"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457200" y="4114800"/>
            <a:ext cx="8229600" cy="320040"/>
          </a:xfrm>
          <a:prstGeom prst="rect">
            <a:avLst/>
          </a:prstGeom>
          <a:noFill/>
          <a:ln/>
        </p:spPr>
        <p:txBody>
          <a:bodyPr wrap="square" lIns="0" tIns="0" rIns="0" bIns="0" rtlCol="0" anchor="t"/>
          <a:lstStyle/>
          <a:p>
            <a:pPr marL="0" indent="0">
              <a:buNone/>
            </a:pPr>
            <a:r>
              <a:rPr lang="en-US" sz="1200" dirty="0">
                <a:solidFill>
                  <a:srgbClr val="566573"/>
                </a:solidFill>
                <a:latin typeface="Calibri" pitchFamily="34" charset="0"/>
                <a:ea typeface="Calibri" pitchFamily="34" charset="-122"/>
                <a:cs typeface="Calibri" pitchFamily="34" charset="-120"/>
              </a:rPr>
              <a:t>On a perfect maze both return the same path. With loops, BFS is never longer than DFS.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F0F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2C3E50"/>
                </a:solidFill>
                <a:latin typeface="Cambria" pitchFamily="34" charset="0"/>
                <a:ea typeface="Cambria" pitchFamily="34" charset="-122"/>
                <a:cs typeface="Cambria" pitchFamily="34" charset="-120"/>
              </a:rPr>
              <a:t>Testing</a:t>
            </a:r>
            <a:endParaRPr lang="en-US" sz="3400" dirty="0"/>
          </a:p>
        </p:txBody>
      </p:sp>
      <p:sp>
        <p:nvSpPr>
          <p:cNvPr id="3" name="Stat card"/>
          <p:cNvSpPr/>
          <p:nvPr/>
        </p:nvSpPr>
        <p:spPr>
          <a:xfrm>
            <a:off x="457200" y="1280160"/>
            <a:ext cx="2926080" cy="3108960"/>
          </a:xfrm>
          <a:prstGeom prst="roundRect">
            <a:avLst>
              <a:gd name="adj" fmla="val 3125"/>
            </a:avLst>
          </a:prstGeom>
          <a:solidFill>
            <a:srgbClr val="2C3E50"/>
          </a:solidFill>
          <a:ln/>
          <a:effectLst>
            <a:outerShdw blurRad="76200" dist="25400" dir="5400000" algn="bl" rotWithShape="0">
              <a:srgbClr val="000000">
                <a:alpha val="15000"/>
              </a:srgbClr>
            </a:outerShdw>
          </a:effectLst>
        </p:spPr>
      </p:sp>
      <p:sp>
        <p:nvSpPr>
          <p:cNvPr id="4" name="Text 2"/>
          <p:cNvSpPr txBox="1"/>
          <p:nvPr/>
        </p:nvSpPr>
        <p:spPr>
          <a:xfrm>
            <a:off x="457200" y="1737360"/>
            <a:ext cx="2926080" cy="91440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100%</a:t>
            </a:r>
            <a:endParaRPr lang="en-US" sz="5400" dirty="0"/>
          </a:p>
        </p:txBody>
      </p:sp>
      <p:sp>
        <p:nvSpPr>
          <p:cNvPr id="5" name="Text 3"/>
          <p:cNvSpPr txBox="1"/>
          <p:nvPr/>
        </p:nvSpPr>
        <p:spPr>
          <a:xfrm>
            <a:off x="457200" y="2697480"/>
            <a:ext cx="2926080" cy="365760"/>
          </a:xfrm>
          <a:prstGeom prst="rect">
            <a:avLst/>
          </a:prstGeom>
          <a:noFill/>
          <a:ln/>
        </p:spPr>
        <p:txBody>
          <a:bodyPr wrap="square" lIns="0" tIns="0" rIns="0" bIns="0" rtlCol="0" anchor="t"/>
          <a:lstStyle/>
          <a:p>
            <a:pPr marL="0" indent="0" algn="ctr">
              <a:buNone/>
            </a:pPr>
            <a:r>
              <a:rPr lang="en-US" sz="1800" dirty="0">
                <a:solidFill>
                  <a:srgbClr val="FFFFFF"/>
                </a:solidFill>
                <a:latin typeface="Calibri" pitchFamily="34" charset="0"/>
                <a:ea typeface="Calibri" pitchFamily="34" charset="-122"/>
                <a:cs typeface="Calibri" pitchFamily="34" charset="-120"/>
              </a:rPr>
              <a:t>of tests pass</a:t>
            </a:r>
            <a:endParaRPr lang="en-US" sz="1800" dirty="0"/>
          </a:p>
        </p:txBody>
      </p:sp>
      <p:sp>
        <p:nvSpPr>
          <p:cNvPr id="6" name="Text 4"/>
          <p:cNvSpPr txBox="1"/>
          <p:nvPr/>
        </p:nvSpPr>
        <p:spPr>
          <a:xfrm>
            <a:off x="457200" y="3108960"/>
            <a:ext cx="2926080" cy="320040"/>
          </a:xfrm>
          <a:prstGeom prst="rect">
            <a:avLst/>
          </a:prstGeom>
          <a:noFill/>
          <a:ln/>
        </p:spPr>
        <p:txBody>
          <a:bodyPr wrap="square" lIns="0" tIns="0" rIns="0" bIns="0" rtlCol="0" anchor="t"/>
          <a:lstStyle/>
          <a:p>
            <a:pPr marL="0" indent="0" algn="ctr">
              <a:buNone/>
            </a:pPr>
            <a:r>
              <a:rPr lang="en-US" sz="1400" dirty="0">
                <a:solidFill>
                  <a:srgbClr val="5DADE2"/>
                </a:solidFill>
                <a:latin typeface="Calibri" pitchFamily="34" charset="0"/>
                <a:ea typeface="Calibri" pitchFamily="34" charset="-122"/>
                <a:cs typeface="Calibri" pitchFamily="34" charset="-120"/>
              </a:rPr>
              <a:t>Catch2 and CTest</a:t>
            </a:r>
            <a:endParaRPr lang="en-US" sz="1400" dirty="0"/>
          </a:p>
        </p:txBody>
      </p:sp>
      <p:sp>
        <p:nvSpPr>
          <p:cNvPr id="7" name="Text 5"/>
          <p:cNvSpPr txBox="1"/>
          <p:nvPr/>
        </p:nvSpPr>
        <p:spPr>
          <a:xfrm>
            <a:off x="3749040" y="1371600"/>
            <a:ext cx="493776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Grid loading, walls and bounds checks</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BFS and DFS: valid path, blocked maze, start equals goal</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Every path step moves one cell and avoids walls</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BFS path is never longer than DFS path</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66573"/>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3E50"/>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Takeaways and next steps</a:t>
            </a:r>
            <a:endParaRPr lang="en-US" sz="3400" dirty="0"/>
          </a:p>
        </p:txBody>
      </p:sp>
      <p:sp>
        <p:nvSpPr>
          <p:cNvPr id="3" name="Text 1"/>
          <p:cNvSpPr txBox="1"/>
          <p:nvPr/>
        </p:nvSpPr>
        <p:spPr>
          <a:xfrm>
            <a:off x="457200" y="1280160"/>
            <a:ext cx="3931920" cy="365760"/>
          </a:xfrm>
          <a:prstGeom prst="rect">
            <a:avLst/>
          </a:prstGeom>
          <a:noFill/>
          <a:ln/>
        </p:spPr>
        <p:txBody>
          <a:bodyPr wrap="square" lIns="0" tIns="0" rIns="0" bIns="0" rtlCol="0" anchor="t"/>
          <a:lstStyle/>
          <a:p>
            <a:pPr marL="0" indent="0">
              <a:buNone/>
            </a:pPr>
            <a:r>
              <a:rPr lang="en-US" sz="2000" b="1" dirty="0">
                <a:solidFill>
                  <a:srgbClr val="F1C40F"/>
                </a:solidFill>
                <a:latin typeface="Cambria" pitchFamily="34" charset="0"/>
                <a:ea typeface="Cambria" pitchFamily="34" charset="-122"/>
                <a:cs typeface="Cambria" pitchFamily="34" charset="-120"/>
              </a:rPr>
              <a:t>What this shows</a:t>
            </a:r>
            <a:endParaRPr lang="en-US" sz="2000" dirty="0"/>
          </a:p>
        </p:txBody>
      </p:sp>
      <p:sp>
        <p:nvSpPr>
          <p:cNvPr id="4" name="Text 2"/>
          <p:cNvSpPr txBox="1"/>
          <p:nvPr/>
        </p:nvSpPr>
        <p:spPr>
          <a:xfrm>
            <a:off x="457200" y="1828800"/>
            <a:ext cx="393192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 queue or a stack decides whether the search finds the shortest path</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Separating logic from drawing made the code easy to test</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Seeded mazes make every result repeatable</a:t>
            </a:r>
            <a:endParaRPr lang="en-US" sz="1600" dirty="0"/>
          </a:p>
        </p:txBody>
      </p:sp>
      <p:sp>
        <p:nvSpPr>
          <p:cNvPr id="5" name="Text 3"/>
          <p:cNvSpPr txBox="1"/>
          <p:nvPr/>
        </p:nvSpPr>
        <p:spPr>
          <a:xfrm>
            <a:off x="4754880" y="1280160"/>
            <a:ext cx="3931920" cy="365760"/>
          </a:xfrm>
          <a:prstGeom prst="rect">
            <a:avLst/>
          </a:prstGeom>
          <a:noFill/>
          <a:ln/>
        </p:spPr>
        <p:txBody>
          <a:bodyPr wrap="square" lIns="0" tIns="0" rIns="0" bIns="0" rtlCol="0" anchor="t"/>
          <a:lstStyle/>
          <a:p>
            <a:pPr marL="0" indent="0">
              <a:buNone/>
            </a:pPr>
            <a:r>
              <a:rPr lang="en-US" sz="2000" b="1" dirty="0">
                <a:solidFill>
                  <a:srgbClr val="F1C40F"/>
                </a:solidFill>
                <a:latin typeface="Cambria" pitchFamily="34" charset="0"/>
                <a:ea typeface="Cambria" pitchFamily="34" charset="-122"/>
                <a:cs typeface="Cambria" pitchFamily="34" charset="-120"/>
              </a:rPr>
              <a:t>Next</a:t>
            </a:r>
            <a:endParaRPr lang="en-US" sz="2000" dirty="0"/>
          </a:p>
        </p:txBody>
      </p:sp>
      <p:sp>
        <p:nvSpPr>
          <p:cNvPr id="6" name="Text 4"/>
          <p:cNvSpPr txBox="1"/>
          <p:nvPr/>
        </p:nvSpPr>
        <p:spPr>
          <a:xfrm>
            <a:off x="4754880" y="1828800"/>
            <a:ext cx="393192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 with a Manhattan-distance heuristic</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Weighted cells and Dijkstra</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Reuse the SFML replay loop in the chess project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725</Words>
  <Application>Microsoft Office PowerPoint</Application>
  <PresentationFormat>On-screen Show (16:9)</PresentationFormat>
  <Paragraphs>140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Pathfinding Visualizer</dc:title>
  <dc:subject>PptxGenJS Presentation</dc:subject>
  <dc:creator>Vipin Kumar</dc:creator>
  <cp:lastModifiedBy>Dell</cp:lastModifiedBy>
  <cp:revision>2</cp:revision>
  <dcterms:created xsi:type="dcterms:W3CDTF">2026-10-30T04:59:00Z</dcterms:created>
  <dcterms:modified xsi:type="dcterms:W3CDTF">2026-10-30T06:01:09Z</dcterms:modified>
</cp:coreProperties>
</file>